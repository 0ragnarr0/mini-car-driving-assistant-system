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Lst>
  <p:sldSz cx="18288000" cy="10287000"/>
  <p:notesSz cx="6858000" cy="9144000"/>
  <p:embeddedFontLst>
    <p:embeddedFont>
      <p:font typeface="チェックポイント" panose="020B0604020202020204" charset="-128"/>
      <p:regular r:id="rId12"/>
    </p:embeddedFont>
    <p:embeddedFont>
      <p:font typeface="DM Sans" pitchFamily="2" charset="0"/>
      <p:regular r:id="rId13"/>
      <p:bold r:id="rId14"/>
      <p:italic r:id="rId15"/>
      <p:boldItalic r:id="rId16"/>
    </p:embeddedFont>
    <p:embeddedFont>
      <p:font typeface="DM Sans Bold" pitchFamily="2" charset="0"/>
      <p:regular r:id="rId17"/>
      <p:bold r:id="rId18"/>
    </p:embeddedFont>
    <p:embeddedFont>
      <p:font typeface="HK Modular" panose="020B0604020202020204" charset="0"/>
      <p:regular r:id="rId19"/>
    </p:embeddedFont>
    <p:embeddedFont>
      <p:font typeface="Inter" panose="020B0604020202020204" charset="0"/>
      <p:regular r:id="rId20"/>
    </p:embeddedFont>
    <p:embeddedFont>
      <p:font typeface="Noto Sans" panose="020B0502040504020204" pitchFamily="34" charset="0"/>
      <p:regular r:id="rId21"/>
      <p:bold r:id="rId22"/>
      <p:italic r:id="rId23"/>
      <p:boldItalic r:id="rId24"/>
    </p:embeddedFont>
    <p:embeddedFont>
      <p:font typeface="Noto Sans Bold" panose="020B0802040504020204" pitchFamily="34" charset="0"/>
      <p:regular r:id="rId25"/>
      <p:bold r:id="rId26"/>
    </p:embeddedFont>
    <p:embeddedFont>
      <p:font typeface="Proxima Nova Bold" panose="020B0604020202020204" charset="0"/>
      <p:regular r:id="rId27"/>
    </p:embeddedFont>
    <p:embeddedFont>
      <p:font typeface="Proxima Nova Bold Italics" panose="020B0604020202020204" charset="0"/>
      <p:regular r:id="rId28"/>
    </p:embeddedFont>
    <p:embeddedFont>
      <p:font typeface="Reesha" panose="020B0604020202020204" charset="0"/>
      <p:regular r:id="rId29"/>
    </p:embeddedFont>
    <p:embeddedFont>
      <p:font typeface="Roca Two Heavy" panose="020B0604020202020204" charset="0"/>
      <p:regular r:id="rId30"/>
    </p:embeddedFont>
    <p:embeddedFont>
      <p:font typeface="SK Concretica" panose="020B0604020202020204" charset="0"/>
      <p:regular r:id="rId31"/>
    </p:embeddedFont>
    <p:embeddedFont>
      <p:font typeface="TT Hoves" panose="020B0604020202020204" charset="0"/>
      <p:regular r:id="rId32"/>
    </p:embeddedFont>
    <p:embeddedFont>
      <p:font typeface="TT Hoves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DB3E4B-2C04-610F-577C-56506347C254}" v="1" dt="2026-05-21T01:21:31.222"/>
    <p1510:client id="{DC35E5D4-0DB9-BE45-A567-F0C687BF4067}" v="20" dt="2026-05-21T01:15:07.9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9" Type="http://schemas.microsoft.com/office/2015/10/relationships/revisionInfo" Target="revisionInfo.xml"/><Relationship Id="rId21" Type="http://schemas.openxmlformats.org/officeDocument/2006/relationships/font" Target="fonts/font10.fntdata"/><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font" Target="fonts/font22.fnt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3.fntdata"/><Relationship Id="rId32" Type="http://schemas.openxmlformats.org/officeDocument/2006/relationships/font" Target="fonts/font21.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8.fntdata"/><Relationship Id="rId31" Type="http://schemas.openxmlformats.org/officeDocument/2006/relationships/font" Target="fonts/font2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A13A08313 DUONGMANH" userId="S::ths40755@ths.hal.ac.jp::985dc07d-0801-4e73-9965-2d16bc3b9093" providerId="AD" clId="Web-{DC35E5D4-0DB9-BE45-A567-F0C687BF4067}"/>
    <pc:docChg chg="modSld">
      <pc:chgData name="THIA13A08313 DUONGMANH" userId="S::ths40755@ths.hal.ac.jp::985dc07d-0801-4e73-9965-2d16bc3b9093" providerId="AD" clId="Web-{DC35E5D4-0DB9-BE45-A567-F0C687BF4067}" dt="2026-05-21T01:15:07.947" v="18" actId="1076"/>
      <pc:docMkLst>
        <pc:docMk/>
      </pc:docMkLst>
      <pc:sldChg chg="modSp">
        <pc:chgData name="THIA13A08313 DUONGMANH" userId="S::ths40755@ths.hal.ac.jp::985dc07d-0801-4e73-9965-2d16bc3b9093" providerId="AD" clId="Web-{DC35E5D4-0DB9-BE45-A567-F0C687BF4067}" dt="2026-05-21T01:13:53.898" v="6" actId="20577"/>
        <pc:sldMkLst>
          <pc:docMk/>
          <pc:sldMk cId="0" sldId="257"/>
        </pc:sldMkLst>
        <pc:spChg chg="mod">
          <ac:chgData name="THIA13A08313 DUONGMANH" userId="S::ths40755@ths.hal.ac.jp::985dc07d-0801-4e73-9965-2d16bc3b9093" providerId="AD" clId="Web-{DC35E5D4-0DB9-BE45-A567-F0C687BF4067}" dt="2026-05-21T01:13:53.898" v="6" actId="20577"/>
          <ac:spMkLst>
            <pc:docMk/>
            <pc:sldMk cId="0" sldId="257"/>
            <ac:spMk id="82" creationId="{00000000-0000-0000-0000-000000000000}"/>
          </ac:spMkLst>
        </pc:spChg>
      </pc:sldChg>
      <pc:sldChg chg="modSp">
        <pc:chgData name="THIA13A08313 DUONGMANH" userId="S::ths40755@ths.hal.ac.jp::985dc07d-0801-4e73-9965-2d16bc3b9093" providerId="AD" clId="Web-{DC35E5D4-0DB9-BE45-A567-F0C687BF4067}" dt="2026-05-21T01:15:07.947" v="18" actId="1076"/>
        <pc:sldMkLst>
          <pc:docMk/>
          <pc:sldMk cId="0" sldId="259"/>
        </pc:sldMkLst>
        <pc:spChg chg="mod">
          <ac:chgData name="THIA13A08313 DUONGMANH" userId="S::ths40755@ths.hal.ac.jp::985dc07d-0801-4e73-9965-2d16bc3b9093" providerId="AD" clId="Web-{DC35E5D4-0DB9-BE45-A567-F0C687BF4067}" dt="2026-05-21T01:14:18.196" v="9" actId="1076"/>
          <ac:spMkLst>
            <pc:docMk/>
            <pc:sldMk cId="0" sldId="259"/>
            <ac:spMk id="53" creationId="{00000000-0000-0000-0000-000000000000}"/>
          </ac:spMkLst>
        </pc:spChg>
        <pc:spChg chg="mod">
          <ac:chgData name="THIA13A08313 DUONGMANH" userId="S::ths40755@ths.hal.ac.jp::985dc07d-0801-4e73-9965-2d16bc3b9093" providerId="AD" clId="Web-{DC35E5D4-0DB9-BE45-A567-F0C687BF4067}" dt="2026-05-21T01:14:21.212" v="12" actId="1076"/>
          <ac:spMkLst>
            <pc:docMk/>
            <pc:sldMk cId="0" sldId="259"/>
            <ac:spMk id="54" creationId="{00000000-0000-0000-0000-000000000000}"/>
          </ac:spMkLst>
        </pc:spChg>
        <pc:grpChg chg="mod">
          <ac:chgData name="THIA13A08313 DUONGMANH" userId="S::ths40755@ths.hal.ac.jp::985dc07d-0801-4e73-9965-2d16bc3b9093" providerId="AD" clId="Web-{DC35E5D4-0DB9-BE45-A567-F0C687BF4067}" dt="2026-05-21T01:15:06.432" v="17" actId="1076"/>
          <ac:grpSpMkLst>
            <pc:docMk/>
            <pc:sldMk cId="0" sldId="259"/>
            <ac:grpSpMk id="7" creationId="{00000000-0000-0000-0000-000000000000}"/>
          </ac:grpSpMkLst>
        </pc:grpChg>
        <pc:grpChg chg="mod">
          <ac:chgData name="THIA13A08313 DUONGMANH" userId="S::ths40755@ths.hal.ac.jp::985dc07d-0801-4e73-9965-2d16bc3b9093" providerId="AD" clId="Web-{DC35E5D4-0DB9-BE45-A567-F0C687BF4067}" dt="2026-05-21T01:14:38.337" v="15" actId="1076"/>
          <ac:grpSpMkLst>
            <pc:docMk/>
            <pc:sldMk cId="0" sldId="259"/>
            <ac:grpSpMk id="10" creationId="{00000000-0000-0000-0000-000000000000}"/>
          </ac:grpSpMkLst>
        </pc:grpChg>
        <pc:grpChg chg="mod">
          <ac:chgData name="THIA13A08313 DUONGMANH" userId="S::ths40755@ths.hal.ac.jp::985dc07d-0801-4e73-9965-2d16bc3b9093" providerId="AD" clId="Web-{DC35E5D4-0DB9-BE45-A567-F0C687BF4067}" dt="2026-05-21T01:14:40.775" v="16" actId="1076"/>
          <ac:grpSpMkLst>
            <pc:docMk/>
            <pc:sldMk cId="0" sldId="259"/>
            <ac:grpSpMk id="13" creationId="{00000000-0000-0000-0000-000000000000}"/>
          </ac:grpSpMkLst>
        </pc:grpChg>
        <pc:grpChg chg="mod">
          <ac:chgData name="THIA13A08313 DUONGMANH" userId="S::ths40755@ths.hal.ac.jp::985dc07d-0801-4e73-9965-2d16bc3b9093" providerId="AD" clId="Web-{DC35E5D4-0DB9-BE45-A567-F0C687BF4067}" dt="2026-05-21T01:15:07.947" v="18" actId="1076"/>
          <ac:grpSpMkLst>
            <pc:docMk/>
            <pc:sldMk cId="0" sldId="259"/>
            <ac:grpSpMk id="26" creationId="{00000000-0000-0000-0000-000000000000}"/>
          </ac:grpSpMkLst>
        </pc:grpChg>
      </pc:sldChg>
      <pc:sldChg chg="modSp">
        <pc:chgData name="THIA13A08313 DUONGMANH" userId="S::ths40755@ths.hal.ac.jp::985dc07d-0801-4e73-9965-2d16bc3b9093" providerId="AD" clId="Web-{DC35E5D4-0DB9-BE45-A567-F0C687BF4067}" dt="2026-05-21T01:12:12.864" v="0" actId="1076"/>
        <pc:sldMkLst>
          <pc:docMk/>
          <pc:sldMk cId="0" sldId="260"/>
        </pc:sldMkLst>
        <pc:spChg chg="mod">
          <ac:chgData name="THIA13A08313 DUONGMANH" userId="S::ths40755@ths.hal.ac.jp::985dc07d-0801-4e73-9965-2d16bc3b9093" providerId="AD" clId="Web-{DC35E5D4-0DB9-BE45-A567-F0C687BF4067}" dt="2026-05-21T01:12:12.864" v="0" actId="1076"/>
          <ac:spMkLst>
            <pc:docMk/>
            <pc:sldMk cId="0" sldId="260"/>
            <ac:spMk id="19" creationId="{00000000-0000-0000-0000-000000000000}"/>
          </ac:spMkLst>
        </pc:spChg>
      </pc:sldChg>
      <pc:sldChg chg="delSp modSp">
        <pc:chgData name="THIA13A08313 DUONGMANH" userId="S::ths40755@ths.hal.ac.jp::985dc07d-0801-4e73-9965-2d16bc3b9093" providerId="AD" clId="Web-{DC35E5D4-0DB9-BE45-A567-F0C687BF4067}" dt="2026-05-21T01:12:33.849" v="2"/>
        <pc:sldMkLst>
          <pc:docMk/>
          <pc:sldMk cId="0" sldId="261"/>
        </pc:sldMkLst>
        <pc:spChg chg="del mod">
          <ac:chgData name="THIA13A08313 DUONGMANH" userId="S::ths40755@ths.hal.ac.jp::985dc07d-0801-4e73-9965-2d16bc3b9093" providerId="AD" clId="Web-{DC35E5D4-0DB9-BE45-A567-F0C687BF4067}" dt="2026-05-21T01:12:33.849" v="2"/>
          <ac:spMkLst>
            <pc:docMk/>
            <pc:sldMk cId="0" sldId="261"/>
            <ac:spMk id="5" creationId="{00000000-0000-0000-0000-000000000000}"/>
          </ac:spMkLst>
        </pc:spChg>
      </pc:sldChg>
      <pc:sldChg chg="modSp">
        <pc:chgData name="THIA13A08313 DUONGMANH" userId="S::ths40755@ths.hal.ac.jp::985dc07d-0801-4e73-9965-2d16bc3b9093" providerId="AD" clId="Web-{DC35E5D4-0DB9-BE45-A567-F0C687BF4067}" dt="2026-05-21T01:12:43.084" v="3" actId="1076"/>
        <pc:sldMkLst>
          <pc:docMk/>
          <pc:sldMk cId="0" sldId="262"/>
        </pc:sldMkLst>
        <pc:spChg chg="mod">
          <ac:chgData name="THIA13A08313 DUONGMANH" userId="S::ths40755@ths.hal.ac.jp::985dc07d-0801-4e73-9965-2d16bc3b9093" providerId="AD" clId="Web-{DC35E5D4-0DB9-BE45-A567-F0C687BF4067}" dt="2026-05-21T01:12:43.084" v="3" actId="1076"/>
          <ac:spMkLst>
            <pc:docMk/>
            <pc:sldMk cId="0" sldId="262"/>
            <ac:spMk id="3" creationId="{00000000-0000-0000-0000-000000000000}"/>
          </ac:spMkLst>
        </pc:spChg>
      </pc:sldChg>
    </pc:docChg>
  </pc:docChgLst>
  <pc:docChgLst>
    <pc:chgData name="THIA13A08313 DUONGMANH" userId="S::ths40755@ths.hal.ac.jp::985dc07d-0801-4e73-9965-2d16bc3b9093" providerId="AD" clId="Web-{76DB3E4B-2C04-610F-577C-56506347C254}"/>
    <pc:docChg chg="modSld">
      <pc:chgData name="THIA13A08313 DUONGMANH" userId="S::ths40755@ths.hal.ac.jp::985dc07d-0801-4e73-9965-2d16bc3b9093" providerId="AD" clId="Web-{76DB3E4B-2C04-610F-577C-56506347C254}" dt="2026-05-21T01:21:31.222" v="0" actId="20577"/>
      <pc:docMkLst>
        <pc:docMk/>
      </pc:docMkLst>
      <pc:sldChg chg="modSp">
        <pc:chgData name="THIA13A08313 DUONGMANH" userId="S::ths40755@ths.hal.ac.jp::985dc07d-0801-4e73-9965-2d16bc3b9093" providerId="AD" clId="Web-{76DB3E4B-2C04-610F-577C-56506347C254}" dt="2026-05-21T01:21:31.222" v="0" actId="20577"/>
        <pc:sldMkLst>
          <pc:docMk/>
          <pc:sldMk cId="0" sldId="262"/>
        </pc:sldMkLst>
        <pc:spChg chg="mod">
          <ac:chgData name="THIA13A08313 DUONGMANH" userId="S::ths40755@ths.hal.ac.jp::985dc07d-0801-4e73-9965-2d16bc3b9093" providerId="AD" clId="Web-{76DB3E4B-2C04-610F-577C-56506347C254}" dt="2026-05-21T01:21:31.222" v="0" actId="20577"/>
          <ac:spMkLst>
            <pc:docMk/>
            <pc:sldMk cId="0" sldId="262"/>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jpeg"/></Relationships>
</file>

<file path=ppt/slides/_rels/slide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142872" y="2085824"/>
            <a:ext cx="3972652" cy="4114800"/>
          </a:xfrm>
          <a:custGeom>
            <a:avLst/>
            <a:gdLst/>
            <a:ahLst/>
            <a:cxnLst/>
            <a:rect l="l" t="t" r="r" b="b"/>
            <a:pathLst>
              <a:path w="3972652" h="4114800">
                <a:moveTo>
                  <a:pt x="0" y="0"/>
                </a:moveTo>
                <a:lnTo>
                  <a:pt x="3972652" y="0"/>
                </a:lnTo>
                <a:lnTo>
                  <a:pt x="3972652" y="4114800"/>
                </a:lnTo>
                <a:lnTo>
                  <a:pt x="0" y="4114800"/>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3145538" y="-195019"/>
            <a:ext cx="7315200" cy="1847088"/>
          </a:xfrm>
          <a:custGeom>
            <a:avLst/>
            <a:gdLst/>
            <a:ahLst/>
            <a:cxnLst/>
            <a:rect l="l" t="t" r="r" b="b"/>
            <a:pathLst>
              <a:path w="7315200" h="1847088">
                <a:moveTo>
                  <a:pt x="0" y="0"/>
                </a:moveTo>
                <a:lnTo>
                  <a:pt x="7315200" y="0"/>
                </a:lnTo>
                <a:lnTo>
                  <a:pt x="7315200" y="1847088"/>
                </a:lnTo>
                <a:lnTo>
                  <a:pt x="0" y="1847088"/>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976580" y="-1298811"/>
            <a:ext cx="12604801" cy="11585811"/>
            <a:chOff x="0" y="0"/>
            <a:chExt cx="1934059" cy="1777707"/>
          </a:xfrm>
        </p:grpSpPr>
        <p:sp>
          <p:nvSpPr>
            <p:cNvPr id="5" name="Freeform 5"/>
            <p:cNvSpPr/>
            <p:nvPr/>
          </p:nvSpPr>
          <p:spPr>
            <a:xfrm flipH="1">
              <a:off x="0" y="0"/>
              <a:ext cx="1934059" cy="1777707"/>
            </a:xfrm>
            <a:custGeom>
              <a:avLst/>
              <a:gdLst/>
              <a:ahLst/>
              <a:cxnLst/>
              <a:rect l="l" t="t" r="r" b="b"/>
              <a:pathLst>
                <a:path w="1934059" h="1777707">
                  <a:moveTo>
                    <a:pt x="1934059" y="0"/>
                  </a:moveTo>
                  <a:lnTo>
                    <a:pt x="0" y="0"/>
                  </a:lnTo>
                  <a:lnTo>
                    <a:pt x="0" y="1777707"/>
                  </a:lnTo>
                  <a:lnTo>
                    <a:pt x="1934059" y="1777707"/>
                  </a:lnTo>
                  <a:close/>
                </a:path>
              </a:pathLst>
            </a:custGeom>
            <a:blipFill>
              <a:blip r:embed="rId4">
                <a:alphaModFix amt="77000"/>
              </a:blip>
              <a:stretch>
                <a:fillRect t="-4704" r="-92625" b="-33991"/>
              </a:stretch>
            </a:blipFill>
          </p:spPr>
          <p:txBody>
            <a:bodyPr/>
            <a:lstStyle/>
            <a:p>
              <a:endParaRPr lang="en-US"/>
            </a:p>
          </p:txBody>
        </p:sp>
      </p:grpSp>
      <p:grpSp>
        <p:nvGrpSpPr>
          <p:cNvPr id="6" name="Group 6"/>
          <p:cNvGrpSpPr/>
          <p:nvPr/>
        </p:nvGrpSpPr>
        <p:grpSpPr>
          <a:xfrm rot="2367667">
            <a:off x="-81145" y="-4742278"/>
            <a:ext cx="575903" cy="16231292"/>
            <a:chOff x="0" y="0"/>
            <a:chExt cx="151678" cy="4274908"/>
          </a:xfrm>
        </p:grpSpPr>
        <p:sp>
          <p:nvSpPr>
            <p:cNvPr id="7" name="Freeform 7"/>
            <p:cNvSpPr/>
            <p:nvPr/>
          </p:nvSpPr>
          <p:spPr>
            <a:xfrm>
              <a:off x="0" y="0"/>
              <a:ext cx="151678" cy="4274908"/>
            </a:xfrm>
            <a:custGeom>
              <a:avLst/>
              <a:gdLst/>
              <a:ahLst/>
              <a:cxnLst/>
              <a:rect l="l" t="t" r="r" b="b"/>
              <a:pathLst>
                <a:path w="151678" h="4274908">
                  <a:moveTo>
                    <a:pt x="0" y="0"/>
                  </a:moveTo>
                  <a:lnTo>
                    <a:pt x="151678" y="0"/>
                  </a:lnTo>
                  <a:lnTo>
                    <a:pt x="151678" y="4274908"/>
                  </a:lnTo>
                  <a:lnTo>
                    <a:pt x="0" y="4274908"/>
                  </a:lnTo>
                  <a:close/>
                </a:path>
              </a:pathLst>
            </a:custGeom>
            <a:solidFill>
              <a:srgbClr val="FFFFFF">
                <a:alpha val="13725"/>
              </a:srgbClr>
            </a:solidFill>
          </p:spPr>
          <p:txBody>
            <a:bodyPr/>
            <a:lstStyle/>
            <a:p>
              <a:endParaRPr lang="en-US"/>
            </a:p>
          </p:txBody>
        </p:sp>
        <p:sp>
          <p:nvSpPr>
            <p:cNvPr id="8" name="TextBox 8"/>
            <p:cNvSpPr txBox="1"/>
            <p:nvPr/>
          </p:nvSpPr>
          <p:spPr>
            <a:xfrm>
              <a:off x="0" y="-38100"/>
              <a:ext cx="151678" cy="431300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rot="2367667">
            <a:off x="10163435" y="-690771"/>
            <a:ext cx="576813" cy="15530416"/>
            <a:chOff x="0" y="0"/>
            <a:chExt cx="151918" cy="4090315"/>
          </a:xfrm>
        </p:grpSpPr>
        <p:sp>
          <p:nvSpPr>
            <p:cNvPr id="10" name="Freeform 10"/>
            <p:cNvSpPr/>
            <p:nvPr/>
          </p:nvSpPr>
          <p:spPr>
            <a:xfrm>
              <a:off x="0" y="0"/>
              <a:ext cx="151918" cy="4090315"/>
            </a:xfrm>
            <a:custGeom>
              <a:avLst/>
              <a:gdLst/>
              <a:ahLst/>
              <a:cxnLst/>
              <a:rect l="l" t="t" r="r" b="b"/>
              <a:pathLst>
                <a:path w="151918" h="4090315">
                  <a:moveTo>
                    <a:pt x="0" y="0"/>
                  </a:moveTo>
                  <a:lnTo>
                    <a:pt x="151918" y="0"/>
                  </a:lnTo>
                  <a:lnTo>
                    <a:pt x="151918" y="4090315"/>
                  </a:lnTo>
                  <a:lnTo>
                    <a:pt x="0" y="4090315"/>
                  </a:lnTo>
                  <a:close/>
                </a:path>
              </a:pathLst>
            </a:custGeom>
            <a:solidFill>
              <a:srgbClr val="FFFFFF">
                <a:alpha val="13725"/>
              </a:srgbClr>
            </a:solidFill>
          </p:spPr>
          <p:txBody>
            <a:bodyPr/>
            <a:lstStyle/>
            <a:p>
              <a:endParaRPr lang="en-US"/>
            </a:p>
          </p:txBody>
        </p:sp>
        <p:sp>
          <p:nvSpPr>
            <p:cNvPr id="11" name="TextBox 11"/>
            <p:cNvSpPr txBox="1"/>
            <p:nvPr/>
          </p:nvSpPr>
          <p:spPr>
            <a:xfrm>
              <a:off x="0" y="-38100"/>
              <a:ext cx="151918" cy="4128415"/>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2367667">
            <a:off x="7494176" y="-2008644"/>
            <a:ext cx="576813" cy="15530416"/>
            <a:chOff x="0" y="0"/>
            <a:chExt cx="151918" cy="4090315"/>
          </a:xfrm>
        </p:grpSpPr>
        <p:sp>
          <p:nvSpPr>
            <p:cNvPr id="13" name="Freeform 13"/>
            <p:cNvSpPr/>
            <p:nvPr/>
          </p:nvSpPr>
          <p:spPr>
            <a:xfrm>
              <a:off x="0" y="0"/>
              <a:ext cx="151918" cy="4090315"/>
            </a:xfrm>
            <a:custGeom>
              <a:avLst/>
              <a:gdLst/>
              <a:ahLst/>
              <a:cxnLst/>
              <a:rect l="l" t="t" r="r" b="b"/>
              <a:pathLst>
                <a:path w="151918" h="4090315">
                  <a:moveTo>
                    <a:pt x="0" y="0"/>
                  </a:moveTo>
                  <a:lnTo>
                    <a:pt x="151918" y="0"/>
                  </a:lnTo>
                  <a:lnTo>
                    <a:pt x="151918" y="4090315"/>
                  </a:lnTo>
                  <a:lnTo>
                    <a:pt x="0" y="4090315"/>
                  </a:lnTo>
                  <a:close/>
                </a:path>
              </a:pathLst>
            </a:custGeom>
            <a:solidFill>
              <a:srgbClr val="FFFFFF">
                <a:alpha val="36863"/>
              </a:srgbClr>
            </a:solidFill>
          </p:spPr>
          <p:txBody>
            <a:bodyPr/>
            <a:lstStyle/>
            <a:p>
              <a:endParaRPr lang="en-US"/>
            </a:p>
          </p:txBody>
        </p:sp>
        <p:sp>
          <p:nvSpPr>
            <p:cNvPr id="14" name="TextBox 14"/>
            <p:cNvSpPr txBox="1"/>
            <p:nvPr/>
          </p:nvSpPr>
          <p:spPr>
            <a:xfrm>
              <a:off x="0" y="-38100"/>
              <a:ext cx="151918" cy="4128415"/>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9539314" y="265472"/>
            <a:ext cx="8748686" cy="10982184"/>
            <a:chOff x="0" y="0"/>
            <a:chExt cx="1269602" cy="1593725"/>
          </a:xfrm>
        </p:grpSpPr>
        <p:sp>
          <p:nvSpPr>
            <p:cNvPr id="16" name="Freeform 16"/>
            <p:cNvSpPr/>
            <p:nvPr/>
          </p:nvSpPr>
          <p:spPr>
            <a:xfrm flipH="1">
              <a:off x="0" y="0"/>
              <a:ext cx="1269602" cy="1593725"/>
            </a:xfrm>
            <a:custGeom>
              <a:avLst/>
              <a:gdLst/>
              <a:ahLst/>
              <a:cxnLst/>
              <a:rect l="l" t="t" r="r" b="b"/>
              <a:pathLst>
                <a:path w="1269602" h="1593725">
                  <a:moveTo>
                    <a:pt x="1269602" y="0"/>
                  </a:moveTo>
                  <a:lnTo>
                    <a:pt x="0" y="0"/>
                  </a:lnTo>
                  <a:lnTo>
                    <a:pt x="0" y="1593725"/>
                  </a:lnTo>
                  <a:lnTo>
                    <a:pt x="1269602" y="1593725"/>
                  </a:lnTo>
                  <a:close/>
                </a:path>
              </a:pathLst>
            </a:custGeom>
            <a:blipFill>
              <a:blip r:embed="rId5"/>
              <a:stretch>
                <a:fillRect l="-44206" r="-44206"/>
              </a:stretch>
            </a:blipFill>
          </p:spPr>
          <p:txBody>
            <a:bodyPr/>
            <a:lstStyle/>
            <a:p>
              <a:endParaRPr lang="en-US"/>
            </a:p>
          </p:txBody>
        </p:sp>
      </p:grpSp>
      <p:sp>
        <p:nvSpPr>
          <p:cNvPr id="17" name="Freeform 17"/>
          <p:cNvSpPr/>
          <p:nvPr/>
        </p:nvSpPr>
        <p:spPr>
          <a:xfrm rot="5400000">
            <a:off x="6870055" y="2669260"/>
            <a:ext cx="10677038" cy="5338519"/>
          </a:xfrm>
          <a:custGeom>
            <a:avLst/>
            <a:gdLst/>
            <a:ahLst/>
            <a:cxnLst/>
            <a:rect l="l" t="t" r="r" b="b"/>
            <a:pathLst>
              <a:path w="10677038" h="5338519">
                <a:moveTo>
                  <a:pt x="0" y="0"/>
                </a:moveTo>
                <a:lnTo>
                  <a:pt x="10677038" y="0"/>
                </a:lnTo>
                <a:lnTo>
                  <a:pt x="10677038" y="5338519"/>
                </a:lnTo>
                <a:lnTo>
                  <a:pt x="0" y="53385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8" name="Freeform 18"/>
          <p:cNvSpPr/>
          <p:nvPr/>
        </p:nvSpPr>
        <p:spPr>
          <a:xfrm>
            <a:off x="9539314" y="9822110"/>
            <a:ext cx="8892111" cy="549694"/>
          </a:xfrm>
          <a:custGeom>
            <a:avLst/>
            <a:gdLst/>
            <a:ahLst/>
            <a:cxnLst/>
            <a:rect l="l" t="t" r="r" b="b"/>
            <a:pathLst>
              <a:path w="8892111" h="549694">
                <a:moveTo>
                  <a:pt x="0" y="0"/>
                </a:moveTo>
                <a:lnTo>
                  <a:pt x="8892112" y="0"/>
                </a:lnTo>
                <a:lnTo>
                  <a:pt x="8892112" y="549694"/>
                </a:lnTo>
                <a:lnTo>
                  <a:pt x="0" y="54969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19" name="Group 19"/>
          <p:cNvGrpSpPr/>
          <p:nvPr/>
        </p:nvGrpSpPr>
        <p:grpSpPr>
          <a:xfrm rot="2367667">
            <a:off x="4783640" y="-2972146"/>
            <a:ext cx="575903" cy="16231292"/>
            <a:chOff x="0" y="0"/>
            <a:chExt cx="151678" cy="4274908"/>
          </a:xfrm>
        </p:grpSpPr>
        <p:sp>
          <p:nvSpPr>
            <p:cNvPr id="20" name="Freeform 20"/>
            <p:cNvSpPr/>
            <p:nvPr/>
          </p:nvSpPr>
          <p:spPr>
            <a:xfrm>
              <a:off x="0" y="0"/>
              <a:ext cx="151678" cy="4274908"/>
            </a:xfrm>
            <a:custGeom>
              <a:avLst/>
              <a:gdLst/>
              <a:ahLst/>
              <a:cxnLst/>
              <a:rect l="l" t="t" r="r" b="b"/>
              <a:pathLst>
                <a:path w="151678" h="4274908">
                  <a:moveTo>
                    <a:pt x="0" y="0"/>
                  </a:moveTo>
                  <a:lnTo>
                    <a:pt x="151678" y="0"/>
                  </a:lnTo>
                  <a:lnTo>
                    <a:pt x="151678" y="4274908"/>
                  </a:lnTo>
                  <a:lnTo>
                    <a:pt x="0" y="4274908"/>
                  </a:lnTo>
                  <a:close/>
                </a:path>
              </a:pathLst>
            </a:custGeom>
            <a:solidFill>
              <a:srgbClr val="FFFFFF">
                <a:alpha val="13725"/>
              </a:srgbClr>
            </a:solidFill>
          </p:spPr>
          <p:txBody>
            <a:bodyPr/>
            <a:lstStyle/>
            <a:p>
              <a:endParaRPr lang="en-US"/>
            </a:p>
          </p:txBody>
        </p:sp>
        <p:sp>
          <p:nvSpPr>
            <p:cNvPr id="21" name="TextBox 21"/>
            <p:cNvSpPr txBox="1"/>
            <p:nvPr/>
          </p:nvSpPr>
          <p:spPr>
            <a:xfrm>
              <a:off x="0" y="-38100"/>
              <a:ext cx="151678" cy="4313008"/>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rot="10667579">
            <a:off x="8975353" y="-896891"/>
            <a:ext cx="576813" cy="15530416"/>
            <a:chOff x="0" y="0"/>
            <a:chExt cx="151918" cy="4090315"/>
          </a:xfrm>
        </p:grpSpPr>
        <p:sp>
          <p:nvSpPr>
            <p:cNvPr id="23" name="Freeform 23"/>
            <p:cNvSpPr/>
            <p:nvPr/>
          </p:nvSpPr>
          <p:spPr>
            <a:xfrm>
              <a:off x="0" y="0"/>
              <a:ext cx="151918" cy="4090315"/>
            </a:xfrm>
            <a:custGeom>
              <a:avLst/>
              <a:gdLst/>
              <a:ahLst/>
              <a:cxnLst/>
              <a:rect l="l" t="t" r="r" b="b"/>
              <a:pathLst>
                <a:path w="151918" h="4090315">
                  <a:moveTo>
                    <a:pt x="0" y="0"/>
                  </a:moveTo>
                  <a:lnTo>
                    <a:pt x="151918" y="0"/>
                  </a:lnTo>
                  <a:lnTo>
                    <a:pt x="151918" y="4090315"/>
                  </a:lnTo>
                  <a:lnTo>
                    <a:pt x="0" y="4090315"/>
                  </a:lnTo>
                  <a:close/>
                </a:path>
              </a:pathLst>
            </a:custGeom>
            <a:solidFill>
              <a:srgbClr val="FFFFFF">
                <a:alpha val="33725"/>
              </a:srgbClr>
            </a:solidFill>
          </p:spPr>
          <p:txBody>
            <a:bodyPr/>
            <a:lstStyle/>
            <a:p>
              <a:endParaRPr lang="en-US"/>
            </a:p>
          </p:txBody>
        </p:sp>
        <p:sp>
          <p:nvSpPr>
            <p:cNvPr id="24" name="TextBox 24"/>
            <p:cNvSpPr txBox="1"/>
            <p:nvPr/>
          </p:nvSpPr>
          <p:spPr>
            <a:xfrm>
              <a:off x="0" y="-38100"/>
              <a:ext cx="151918" cy="4128415"/>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599934" y="2422430"/>
            <a:ext cx="7182648" cy="1177801"/>
            <a:chOff x="0" y="0"/>
            <a:chExt cx="1891726" cy="310203"/>
          </a:xfrm>
        </p:grpSpPr>
        <p:sp>
          <p:nvSpPr>
            <p:cNvPr id="26" name="Freeform 26"/>
            <p:cNvSpPr/>
            <p:nvPr/>
          </p:nvSpPr>
          <p:spPr>
            <a:xfrm>
              <a:off x="0" y="0"/>
              <a:ext cx="1891726" cy="310203"/>
            </a:xfrm>
            <a:custGeom>
              <a:avLst/>
              <a:gdLst/>
              <a:ahLst/>
              <a:cxnLst/>
              <a:rect l="l" t="t" r="r" b="b"/>
              <a:pathLst>
                <a:path w="1891726" h="310203">
                  <a:moveTo>
                    <a:pt x="0" y="0"/>
                  </a:moveTo>
                  <a:lnTo>
                    <a:pt x="1891726" y="0"/>
                  </a:lnTo>
                  <a:lnTo>
                    <a:pt x="1891726" y="310203"/>
                  </a:lnTo>
                  <a:lnTo>
                    <a:pt x="0" y="310203"/>
                  </a:lnTo>
                  <a:close/>
                </a:path>
              </a:pathLst>
            </a:custGeom>
            <a:solidFill>
              <a:srgbClr val="D9D9D9">
                <a:alpha val="47843"/>
              </a:srgbClr>
            </a:solidFill>
          </p:spPr>
          <p:txBody>
            <a:bodyPr/>
            <a:lstStyle/>
            <a:p>
              <a:endParaRPr lang="en-US"/>
            </a:p>
          </p:txBody>
        </p:sp>
        <p:sp>
          <p:nvSpPr>
            <p:cNvPr id="27" name="TextBox 27"/>
            <p:cNvSpPr txBox="1"/>
            <p:nvPr/>
          </p:nvSpPr>
          <p:spPr>
            <a:xfrm>
              <a:off x="0" y="-38100"/>
              <a:ext cx="1891726" cy="348303"/>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206807" y="2604710"/>
            <a:ext cx="10683506" cy="3461596"/>
            <a:chOff x="0" y="0"/>
            <a:chExt cx="14244675" cy="4615462"/>
          </a:xfrm>
        </p:grpSpPr>
        <p:sp>
          <p:nvSpPr>
            <p:cNvPr id="29" name="TextBox 29"/>
            <p:cNvSpPr txBox="1"/>
            <p:nvPr/>
          </p:nvSpPr>
          <p:spPr>
            <a:xfrm>
              <a:off x="0" y="428625"/>
              <a:ext cx="11429125" cy="1084080"/>
            </a:xfrm>
            <a:prstGeom prst="rect">
              <a:avLst/>
            </a:prstGeom>
          </p:spPr>
          <p:txBody>
            <a:bodyPr lIns="0" tIns="0" rIns="0" bIns="0" rtlCol="0" anchor="t">
              <a:spAutoFit/>
            </a:bodyPr>
            <a:lstStyle/>
            <a:p>
              <a:pPr algn="ctr">
                <a:lnSpc>
                  <a:spcPts val="4476"/>
                </a:lnSpc>
              </a:pPr>
              <a:r>
                <a:rPr lang="en-US" sz="7461" b="1" spc="-567">
                  <a:gradFill>
                    <a:gsLst>
                      <a:gs pos="0">
                        <a:srgbClr val="000000">
                          <a:alpha val="100000"/>
                        </a:srgbClr>
                      </a:gs>
                      <a:gs pos="100000">
                        <a:srgbClr val="737373">
                          <a:alpha val="100000"/>
                        </a:srgbClr>
                      </a:gs>
                    </a:gsLst>
                    <a:lin ang="0"/>
                  </a:gradFill>
                  <a:latin typeface="Roca Two Heavy"/>
                  <a:ea typeface="Roca Two Heavy"/>
                  <a:cs typeface="Roca Two Heavy"/>
                  <a:sym typeface="Roca Two Heavy"/>
                </a:rPr>
                <a:t>Core4Drive</a:t>
              </a:r>
            </a:p>
          </p:txBody>
        </p:sp>
        <p:sp>
          <p:nvSpPr>
            <p:cNvPr id="30" name="TextBox 30"/>
            <p:cNvSpPr txBox="1"/>
            <p:nvPr/>
          </p:nvSpPr>
          <p:spPr>
            <a:xfrm>
              <a:off x="2901165" y="3804216"/>
              <a:ext cx="11343510" cy="811245"/>
            </a:xfrm>
            <a:prstGeom prst="rect">
              <a:avLst/>
            </a:prstGeom>
          </p:spPr>
          <p:txBody>
            <a:bodyPr lIns="0" tIns="0" rIns="0" bIns="0" rtlCol="0" anchor="t">
              <a:spAutoFit/>
            </a:bodyPr>
            <a:lstStyle/>
            <a:p>
              <a:pPr algn="ctr">
                <a:lnSpc>
                  <a:spcPts val="4306"/>
                </a:lnSpc>
              </a:pPr>
              <a:endParaRPr/>
            </a:p>
          </p:txBody>
        </p:sp>
      </p:grpSp>
      <p:grpSp>
        <p:nvGrpSpPr>
          <p:cNvPr id="31" name="Group 31"/>
          <p:cNvGrpSpPr/>
          <p:nvPr/>
        </p:nvGrpSpPr>
        <p:grpSpPr>
          <a:xfrm>
            <a:off x="1702639" y="3785530"/>
            <a:ext cx="7182648" cy="4362842"/>
            <a:chOff x="0" y="0"/>
            <a:chExt cx="1891726" cy="1149061"/>
          </a:xfrm>
        </p:grpSpPr>
        <p:sp>
          <p:nvSpPr>
            <p:cNvPr id="32" name="Freeform 32"/>
            <p:cNvSpPr/>
            <p:nvPr/>
          </p:nvSpPr>
          <p:spPr>
            <a:xfrm>
              <a:off x="0" y="0"/>
              <a:ext cx="1891726" cy="1149061"/>
            </a:xfrm>
            <a:custGeom>
              <a:avLst/>
              <a:gdLst/>
              <a:ahLst/>
              <a:cxnLst/>
              <a:rect l="l" t="t" r="r" b="b"/>
              <a:pathLst>
                <a:path w="1891726" h="1149061">
                  <a:moveTo>
                    <a:pt x="0" y="0"/>
                  </a:moveTo>
                  <a:lnTo>
                    <a:pt x="1891726" y="0"/>
                  </a:lnTo>
                  <a:lnTo>
                    <a:pt x="1891726" y="1149061"/>
                  </a:lnTo>
                  <a:lnTo>
                    <a:pt x="0" y="1149061"/>
                  </a:lnTo>
                  <a:close/>
                </a:path>
              </a:pathLst>
            </a:custGeom>
            <a:solidFill>
              <a:srgbClr val="D9D9D9">
                <a:alpha val="72941"/>
              </a:srgbClr>
            </a:solidFill>
          </p:spPr>
          <p:txBody>
            <a:bodyPr/>
            <a:lstStyle/>
            <a:p>
              <a:endParaRPr lang="en-US"/>
            </a:p>
          </p:txBody>
        </p:sp>
        <p:sp>
          <p:nvSpPr>
            <p:cNvPr id="33" name="TextBox 33"/>
            <p:cNvSpPr txBox="1"/>
            <p:nvPr/>
          </p:nvSpPr>
          <p:spPr>
            <a:xfrm>
              <a:off x="0" y="-38100"/>
              <a:ext cx="1891726" cy="1187161"/>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2220589" y="4133699"/>
            <a:ext cx="7318725" cy="3699163"/>
          </a:xfrm>
          <a:prstGeom prst="rect">
            <a:avLst/>
          </a:prstGeom>
        </p:spPr>
        <p:txBody>
          <a:bodyPr lIns="0" tIns="0" rIns="0" bIns="0" rtlCol="0" anchor="t">
            <a:spAutoFit/>
          </a:bodyPr>
          <a:lstStyle/>
          <a:p>
            <a:pPr algn="ctr">
              <a:lnSpc>
                <a:spcPts val="4791"/>
              </a:lnSpc>
            </a:pPr>
            <a:r>
              <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rPr>
              <a:t>チームメンバー</a:t>
            </a:r>
          </a:p>
          <a:p>
            <a:pPr algn="ctr">
              <a:lnSpc>
                <a:spcPts val="4791"/>
              </a:lnSpc>
            </a:pPr>
            <a:r>
              <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rPr>
              <a:t>DUONG MANH</a:t>
            </a:r>
          </a:p>
          <a:p>
            <a:pPr algn="ctr">
              <a:lnSpc>
                <a:spcPts val="4791"/>
              </a:lnSpc>
            </a:pPr>
            <a:r>
              <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rPr>
              <a:t>住友　優大</a:t>
            </a:r>
          </a:p>
          <a:p>
            <a:pPr algn="ctr">
              <a:lnSpc>
                <a:spcPts val="4791"/>
              </a:lnSpc>
            </a:pPr>
            <a:r>
              <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rPr>
              <a:t>NGUYEN LOC</a:t>
            </a:r>
          </a:p>
          <a:p>
            <a:pPr algn="ctr">
              <a:lnSpc>
                <a:spcPts val="4791"/>
              </a:lnSpc>
            </a:pPr>
            <a:r>
              <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rPr>
              <a:t>NHKANGZAUNAW</a:t>
            </a:r>
          </a:p>
          <a:p>
            <a:pPr algn="ctr">
              <a:lnSpc>
                <a:spcPts val="4791"/>
              </a:lnSpc>
            </a:pPr>
            <a:endParaRPr lang="en-US" sz="4355" spc="653">
              <a:gradFill>
                <a:gsLst>
                  <a:gs pos="0">
                    <a:srgbClr val="000000">
                      <a:alpha val="100000"/>
                    </a:srgbClr>
                  </a:gs>
                  <a:gs pos="100000">
                    <a:srgbClr val="3533CD">
                      <a:alpha val="100000"/>
                    </a:srgbClr>
                  </a:gs>
                </a:gsLst>
                <a:lin ang="0"/>
              </a:gradFill>
              <a:latin typeface="SK Concretica"/>
              <a:ea typeface="SK Concretica"/>
              <a:cs typeface="SK Concretica"/>
              <a:sym typeface="SK Concretic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607"/>
        </a:solidFill>
        <a:effectLst/>
      </p:bgPr>
    </p:bg>
    <p:spTree>
      <p:nvGrpSpPr>
        <p:cNvPr id="1" name=""/>
        <p:cNvGrpSpPr/>
        <p:nvPr/>
      </p:nvGrpSpPr>
      <p:grpSpPr>
        <a:xfrm>
          <a:off x="0" y="0"/>
          <a:ext cx="0" cy="0"/>
          <a:chOff x="0" y="0"/>
          <a:chExt cx="0" cy="0"/>
        </a:xfrm>
      </p:grpSpPr>
      <p:grpSp>
        <p:nvGrpSpPr>
          <p:cNvPr id="2" name="Group 2"/>
          <p:cNvGrpSpPr/>
          <p:nvPr/>
        </p:nvGrpSpPr>
        <p:grpSpPr>
          <a:xfrm>
            <a:off x="12000772" y="1028700"/>
            <a:ext cx="6743406" cy="4114800"/>
            <a:chOff x="0" y="0"/>
            <a:chExt cx="999023" cy="609600"/>
          </a:xfrm>
        </p:grpSpPr>
        <p:sp>
          <p:nvSpPr>
            <p:cNvPr id="3" name="Freeform 3"/>
            <p:cNvSpPr/>
            <p:nvPr/>
          </p:nvSpPr>
          <p:spPr>
            <a:xfrm rot="-82064">
              <a:off x="-7133" y="-6986"/>
              <a:ext cx="1013289" cy="623572"/>
            </a:xfrm>
            <a:custGeom>
              <a:avLst/>
              <a:gdLst/>
              <a:ahLst/>
              <a:cxnLst/>
              <a:rect l="l" t="t" r="r" b="b"/>
              <a:pathLst>
                <a:path w="1013289" h="623572">
                  <a:moveTo>
                    <a:pt x="217693" y="0"/>
                  </a:moveTo>
                  <a:lnTo>
                    <a:pt x="1013289" y="18996"/>
                  </a:lnTo>
                  <a:lnTo>
                    <a:pt x="795596" y="623572"/>
                  </a:lnTo>
                  <a:lnTo>
                    <a:pt x="0" y="604576"/>
                  </a:lnTo>
                  <a:lnTo>
                    <a:pt x="217693" y="0"/>
                  </a:lnTo>
                  <a:close/>
                </a:path>
              </a:pathLst>
            </a:custGeom>
            <a:blipFill>
              <a:blip r:embed="rId2"/>
              <a:stretch>
                <a:fillRect t="-12404" b="-12404"/>
              </a:stretch>
            </a:blipFill>
          </p:spPr>
          <p:txBody>
            <a:bodyPr/>
            <a:lstStyle/>
            <a:p>
              <a:endParaRPr lang="en-US"/>
            </a:p>
          </p:txBody>
        </p:sp>
      </p:grpSp>
      <p:grpSp>
        <p:nvGrpSpPr>
          <p:cNvPr id="4" name="Group 4"/>
          <p:cNvGrpSpPr/>
          <p:nvPr/>
        </p:nvGrpSpPr>
        <p:grpSpPr>
          <a:xfrm>
            <a:off x="5309886" y="1028700"/>
            <a:ext cx="7348333" cy="4114800"/>
            <a:chOff x="0" y="0"/>
            <a:chExt cx="1088642" cy="609600"/>
          </a:xfrm>
        </p:grpSpPr>
        <p:sp>
          <p:nvSpPr>
            <p:cNvPr id="5" name="Freeform 5"/>
            <p:cNvSpPr/>
            <p:nvPr/>
          </p:nvSpPr>
          <p:spPr>
            <a:xfrm>
              <a:off x="0" y="0"/>
              <a:ext cx="1088642" cy="609600"/>
            </a:xfrm>
            <a:custGeom>
              <a:avLst/>
              <a:gdLst/>
              <a:ahLst/>
              <a:cxnLst/>
              <a:rect l="l" t="t" r="r" b="b"/>
              <a:pathLst>
                <a:path w="1088642" h="609600">
                  <a:moveTo>
                    <a:pt x="203200" y="0"/>
                  </a:moveTo>
                  <a:lnTo>
                    <a:pt x="1088642" y="0"/>
                  </a:lnTo>
                  <a:lnTo>
                    <a:pt x="885442" y="609600"/>
                  </a:lnTo>
                  <a:lnTo>
                    <a:pt x="0" y="609600"/>
                  </a:lnTo>
                  <a:lnTo>
                    <a:pt x="203200" y="0"/>
                  </a:lnTo>
                  <a:close/>
                </a:path>
              </a:pathLst>
            </a:custGeom>
            <a:blipFill>
              <a:blip r:embed="rId3"/>
              <a:stretch>
                <a:fillRect t="-18058" b="-48165"/>
              </a:stretch>
            </a:blipFill>
          </p:spPr>
          <p:txBody>
            <a:bodyPr/>
            <a:lstStyle/>
            <a:p>
              <a:endParaRPr lang="en-US"/>
            </a:p>
          </p:txBody>
        </p:sp>
      </p:grpSp>
      <p:grpSp>
        <p:nvGrpSpPr>
          <p:cNvPr id="6" name="Group 6"/>
          <p:cNvGrpSpPr/>
          <p:nvPr/>
        </p:nvGrpSpPr>
        <p:grpSpPr>
          <a:xfrm>
            <a:off x="5049099" y="5291830"/>
            <a:ext cx="14531223" cy="4609407"/>
            <a:chOff x="0" y="0"/>
            <a:chExt cx="2545676" cy="807507"/>
          </a:xfrm>
        </p:grpSpPr>
        <p:sp>
          <p:nvSpPr>
            <p:cNvPr id="7" name="Freeform 7"/>
            <p:cNvSpPr/>
            <p:nvPr/>
          </p:nvSpPr>
          <p:spPr>
            <a:xfrm>
              <a:off x="0" y="0"/>
              <a:ext cx="2545676" cy="807507"/>
            </a:xfrm>
            <a:custGeom>
              <a:avLst/>
              <a:gdLst/>
              <a:ahLst/>
              <a:cxnLst/>
              <a:rect l="l" t="t" r="r" b="b"/>
              <a:pathLst>
                <a:path w="2545676" h="807507">
                  <a:moveTo>
                    <a:pt x="203200" y="0"/>
                  </a:moveTo>
                  <a:lnTo>
                    <a:pt x="2545676" y="0"/>
                  </a:lnTo>
                  <a:lnTo>
                    <a:pt x="2342476" y="807507"/>
                  </a:lnTo>
                  <a:lnTo>
                    <a:pt x="0" y="807507"/>
                  </a:lnTo>
                  <a:lnTo>
                    <a:pt x="203200" y="0"/>
                  </a:lnTo>
                  <a:close/>
                </a:path>
              </a:pathLst>
            </a:custGeom>
            <a:solidFill>
              <a:srgbClr val="232323"/>
            </a:solidFill>
          </p:spPr>
          <p:txBody>
            <a:bodyPr/>
            <a:lstStyle/>
            <a:p>
              <a:endParaRPr lang="en-US"/>
            </a:p>
          </p:txBody>
        </p:sp>
        <p:sp>
          <p:nvSpPr>
            <p:cNvPr id="8" name="TextBox 8"/>
            <p:cNvSpPr txBox="1"/>
            <p:nvPr/>
          </p:nvSpPr>
          <p:spPr>
            <a:xfrm>
              <a:off x="101600" y="28575"/>
              <a:ext cx="2342476" cy="778932"/>
            </a:xfrm>
            <a:prstGeom prst="rect">
              <a:avLst/>
            </a:prstGeom>
          </p:spPr>
          <p:txBody>
            <a:bodyPr lIns="50800" tIns="50800" rIns="50800" bIns="50800" rtlCol="0" anchor="ctr"/>
            <a:lstStyle/>
            <a:p>
              <a:pPr algn="ctr">
                <a:lnSpc>
                  <a:spcPts val="2649"/>
                </a:lnSpc>
              </a:pPr>
              <a:endParaRPr/>
            </a:p>
          </p:txBody>
        </p:sp>
      </p:grpSp>
      <p:grpSp>
        <p:nvGrpSpPr>
          <p:cNvPr id="9" name="Group 9"/>
          <p:cNvGrpSpPr/>
          <p:nvPr/>
        </p:nvGrpSpPr>
        <p:grpSpPr>
          <a:xfrm>
            <a:off x="-2830848" y="-302409"/>
            <a:ext cx="9540594" cy="6168741"/>
            <a:chOff x="0" y="0"/>
            <a:chExt cx="905618" cy="585553"/>
          </a:xfrm>
        </p:grpSpPr>
        <p:sp>
          <p:nvSpPr>
            <p:cNvPr id="10" name="Freeform 10"/>
            <p:cNvSpPr/>
            <p:nvPr/>
          </p:nvSpPr>
          <p:spPr>
            <a:xfrm>
              <a:off x="0" y="0"/>
              <a:ext cx="905618" cy="585553"/>
            </a:xfrm>
            <a:custGeom>
              <a:avLst/>
              <a:gdLst/>
              <a:ahLst/>
              <a:cxnLst/>
              <a:rect l="l" t="t" r="r" b="b"/>
              <a:pathLst>
                <a:path w="905618" h="585553">
                  <a:moveTo>
                    <a:pt x="203200" y="0"/>
                  </a:moveTo>
                  <a:lnTo>
                    <a:pt x="905618" y="0"/>
                  </a:lnTo>
                  <a:lnTo>
                    <a:pt x="702418" y="585553"/>
                  </a:lnTo>
                  <a:lnTo>
                    <a:pt x="0" y="585553"/>
                  </a:lnTo>
                  <a:lnTo>
                    <a:pt x="203200" y="0"/>
                  </a:lnTo>
                  <a:close/>
                </a:path>
              </a:pathLst>
            </a:custGeom>
            <a:gradFill rotWithShape="1">
              <a:gsLst>
                <a:gs pos="0">
                  <a:srgbClr val="FF3131">
                    <a:alpha val="100000"/>
                  </a:srgbClr>
                </a:gs>
                <a:gs pos="100000">
                  <a:srgbClr val="000000">
                    <a:alpha val="100000"/>
                  </a:srgbClr>
                </a:gs>
              </a:gsLst>
              <a:lin ang="5400000"/>
            </a:gradFill>
          </p:spPr>
          <p:txBody>
            <a:bodyPr/>
            <a:lstStyle/>
            <a:p>
              <a:endParaRPr lang="en-US"/>
            </a:p>
          </p:txBody>
        </p:sp>
        <p:sp>
          <p:nvSpPr>
            <p:cNvPr id="11" name="TextBox 11"/>
            <p:cNvSpPr txBox="1"/>
            <p:nvPr/>
          </p:nvSpPr>
          <p:spPr>
            <a:xfrm>
              <a:off x="101600" y="28575"/>
              <a:ext cx="702418" cy="556978"/>
            </a:xfrm>
            <a:prstGeom prst="rect">
              <a:avLst/>
            </a:prstGeom>
          </p:spPr>
          <p:txBody>
            <a:bodyPr lIns="50800" tIns="50800" rIns="50800" bIns="50800" rtlCol="0" anchor="ctr"/>
            <a:lstStyle/>
            <a:p>
              <a:pPr algn="ctr">
                <a:lnSpc>
                  <a:spcPts val="2649"/>
                </a:lnSpc>
              </a:pPr>
              <a:endParaRPr/>
            </a:p>
          </p:txBody>
        </p:sp>
      </p:grpSp>
      <p:sp>
        <p:nvSpPr>
          <p:cNvPr id="12" name="Freeform 12"/>
          <p:cNvSpPr/>
          <p:nvPr/>
        </p:nvSpPr>
        <p:spPr>
          <a:xfrm>
            <a:off x="5309886" y="-302409"/>
            <a:ext cx="2129463" cy="1246704"/>
          </a:xfrm>
          <a:custGeom>
            <a:avLst/>
            <a:gdLst/>
            <a:ahLst/>
            <a:cxnLst/>
            <a:rect l="l" t="t" r="r" b="b"/>
            <a:pathLst>
              <a:path w="2129463" h="1246704">
                <a:moveTo>
                  <a:pt x="0" y="0"/>
                </a:moveTo>
                <a:lnTo>
                  <a:pt x="2129463" y="0"/>
                </a:lnTo>
                <a:lnTo>
                  <a:pt x="2129463" y="1246704"/>
                </a:lnTo>
                <a:lnTo>
                  <a:pt x="0" y="12467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flipH="1">
            <a:off x="-10650414" y="6788206"/>
            <a:ext cx="16230600" cy="4940189"/>
          </a:xfrm>
          <a:custGeom>
            <a:avLst/>
            <a:gdLst/>
            <a:ahLst/>
            <a:cxnLst/>
            <a:rect l="l" t="t" r="r" b="b"/>
            <a:pathLst>
              <a:path w="16230600" h="4940189">
                <a:moveTo>
                  <a:pt x="16230600" y="0"/>
                </a:moveTo>
                <a:lnTo>
                  <a:pt x="0" y="0"/>
                </a:lnTo>
                <a:lnTo>
                  <a:pt x="0" y="4940188"/>
                </a:lnTo>
                <a:lnTo>
                  <a:pt x="16230600" y="4940188"/>
                </a:lnTo>
                <a:lnTo>
                  <a:pt x="16230600" y="0"/>
                </a:lnTo>
                <a:close/>
              </a:path>
            </a:pathLst>
          </a:custGeom>
          <a:blipFill>
            <a:blip r:embed="rId5"/>
            <a:stretch>
              <a:fillRect/>
            </a:stretch>
          </a:blipFill>
        </p:spPr>
        <p:txBody>
          <a:bodyPr/>
          <a:lstStyle/>
          <a:p>
            <a:endParaRPr lang="en-US"/>
          </a:p>
        </p:txBody>
      </p:sp>
      <p:grpSp>
        <p:nvGrpSpPr>
          <p:cNvPr id="14" name="Group 14"/>
          <p:cNvGrpSpPr/>
          <p:nvPr/>
        </p:nvGrpSpPr>
        <p:grpSpPr>
          <a:xfrm>
            <a:off x="15453103" y="9515475"/>
            <a:ext cx="2564597" cy="771525"/>
            <a:chOff x="0" y="0"/>
            <a:chExt cx="3419463" cy="1028700"/>
          </a:xfrm>
        </p:grpSpPr>
        <p:grpSp>
          <p:nvGrpSpPr>
            <p:cNvPr id="15" name="Group 15"/>
            <p:cNvGrpSpPr/>
            <p:nvPr/>
          </p:nvGrpSpPr>
          <p:grpSpPr>
            <a:xfrm>
              <a:off x="1550118" y="0"/>
              <a:ext cx="1086568" cy="1028700"/>
              <a:chOff x="0" y="0"/>
              <a:chExt cx="429261" cy="406400"/>
            </a:xfrm>
          </p:grpSpPr>
          <p:sp>
            <p:nvSpPr>
              <p:cNvPr id="16" name="Freeform 16"/>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17" name="TextBox 17"/>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18" name="Group 18"/>
            <p:cNvGrpSpPr/>
            <p:nvPr/>
          </p:nvGrpSpPr>
          <p:grpSpPr>
            <a:xfrm>
              <a:off x="773652" y="0"/>
              <a:ext cx="1086568" cy="1028700"/>
              <a:chOff x="0" y="0"/>
              <a:chExt cx="429261" cy="406400"/>
            </a:xfrm>
          </p:grpSpPr>
          <p:sp>
            <p:nvSpPr>
              <p:cNvPr id="19" name="Freeform 19"/>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0" name="TextBox 20"/>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21" name="Group 21"/>
            <p:cNvGrpSpPr/>
            <p:nvPr/>
          </p:nvGrpSpPr>
          <p:grpSpPr>
            <a:xfrm>
              <a:off x="0" y="0"/>
              <a:ext cx="1086568" cy="1028700"/>
              <a:chOff x="0" y="0"/>
              <a:chExt cx="429261" cy="406400"/>
            </a:xfrm>
          </p:grpSpPr>
          <p:sp>
            <p:nvSpPr>
              <p:cNvPr id="22" name="Freeform 22"/>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3" name="TextBox 23"/>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24" name="Group 24"/>
            <p:cNvGrpSpPr/>
            <p:nvPr/>
          </p:nvGrpSpPr>
          <p:grpSpPr>
            <a:xfrm>
              <a:off x="2332894" y="0"/>
              <a:ext cx="1086568" cy="1028700"/>
              <a:chOff x="0" y="0"/>
              <a:chExt cx="429261" cy="406400"/>
            </a:xfrm>
          </p:grpSpPr>
          <p:sp>
            <p:nvSpPr>
              <p:cNvPr id="25" name="Freeform 25"/>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6" name="TextBox 26"/>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grpSp>
        <p:nvGrpSpPr>
          <p:cNvPr id="27" name="Group 27"/>
          <p:cNvGrpSpPr/>
          <p:nvPr/>
        </p:nvGrpSpPr>
        <p:grpSpPr>
          <a:xfrm>
            <a:off x="-368789" y="1028700"/>
            <a:ext cx="6743406" cy="4114800"/>
            <a:chOff x="0" y="0"/>
            <a:chExt cx="999023" cy="609600"/>
          </a:xfrm>
        </p:grpSpPr>
        <p:sp>
          <p:nvSpPr>
            <p:cNvPr id="28" name="Freeform 28"/>
            <p:cNvSpPr/>
            <p:nvPr/>
          </p:nvSpPr>
          <p:spPr>
            <a:xfrm rot="-462368">
              <a:off x="-36360" y="-36980"/>
              <a:ext cx="1071743" cy="683561"/>
            </a:xfrm>
            <a:custGeom>
              <a:avLst/>
              <a:gdLst/>
              <a:ahLst/>
              <a:cxnLst/>
              <a:rect l="l" t="t" r="r" b="b"/>
              <a:pathLst>
                <a:path w="1071743" h="683561">
                  <a:moveTo>
                    <a:pt x="283107" y="0"/>
                  </a:moveTo>
                  <a:lnTo>
                    <a:pt x="1071743" y="106713"/>
                  </a:lnTo>
                  <a:lnTo>
                    <a:pt x="788636" y="683560"/>
                  </a:lnTo>
                  <a:lnTo>
                    <a:pt x="0" y="576847"/>
                  </a:lnTo>
                  <a:lnTo>
                    <a:pt x="283107" y="0"/>
                  </a:lnTo>
                  <a:close/>
                </a:path>
              </a:pathLst>
            </a:custGeom>
            <a:blipFill>
              <a:blip r:embed="rId6"/>
              <a:stretch>
                <a:fillRect t="-11727" b="-11727"/>
              </a:stretch>
            </a:blipFill>
          </p:spPr>
          <p:txBody>
            <a:bodyPr/>
            <a:lstStyle/>
            <a:p>
              <a:endParaRPr lang="en-US"/>
            </a:p>
          </p:txBody>
        </p:sp>
      </p:grpSp>
      <p:grpSp>
        <p:nvGrpSpPr>
          <p:cNvPr id="29" name="Group 29"/>
          <p:cNvGrpSpPr/>
          <p:nvPr/>
        </p:nvGrpSpPr>
        <p:grpSpPr>
          <a:xfrm>
            <a:off x="5427448" y="9515475"/>
            <a:ext cx="2564597" cy="771525"/>
            <a:chOff x="0" y="0"/>
            <a:chExt cx="3419463" cy="1028700"/>
          </a:xfrm>
        </p:grpSpPr>
        <p:grpSp>
          <p:nvGrpSpPr>
            <p:cNvPr id="30" name="Group 30"/>
            <p:cNvGrpSpPr/>
            <p:nvPr/>
          </p:nvGrpSpPr>
          <p:grpSpPr>
            <a:xfrm>
              <a:off x="1550118" y="0"/>
              <a:ext cx="1086568" cy="1028700"/>
              <a:chOff x="0" y="0"/>
              <a:chExt cx="429261" cy="406400"/>
            </a:xfrm>
          </p:grpSpPr>
          <p:sp>
            <p:nvSpPr>
              <p:cNvPr id="31" name="Freeform 31"/>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32" name="TextBox 32"/>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33" name="Group 33"/>
            <p:cNvGrpSpPr/>
            <p:nvPr/>
          </p:nvGrpSpPr>
          <p:grpSpPr>
            <a:xfrm>
              <a:off x="773652" y="0"/>
              <a:ext cx="1086568" cy="1028700"/>
              <a:chOff x="0" y="0"/>
              <a:chExt cx="429261" cy="406400"/>
            </a:xfrm>
          </p:grpSpPr>
          <p:sp>
            <p:nvSpPr>
              <p:cNvPr id="34" name="Freeform 34"/>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35" name="TextBox 35"/>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36" name="Group 36"/>
            <p:cNvGrpSpPr/>
            <p:nvPr/>
          </p:nvGrpSpPr>
          <p:grpSpPr>
            <a:xfrm>
              <a:off x="0" y="0"/>
              <a:ext cx="1086568" cy="1028700"/>
              <a:chOff x="0" y="0"/>
              <a:chExt cx="429261" cy="406400"/>
            </a:xfrm>
          </p:grpSpPr>
          <p:sp>
            <p:nvSpPr>
              <p:cNvPr id="37" name="Freeform 37"/>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38" name="TextBox 38"/>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39" name="Group 39"/>
            <p:cNvGrpSpPr/>
            <p:nvPr/>
          </p:nvGrpSpPr>
          <p:grpSpPr>
            <a:xfrm>
              <a:off x="2332894" y="0"/>
              <a:ext cx="1086568" cy="1028700"/>
              <a:chOff x="0" y="0"/>
              <a:chExt cx="429261" cy="406400"/>
            </a:xfrm>
          </p:grpSpPr>
          <p:sp>
            <p:nvSpPr>
              <p:cNvPr id="40" name="Freeform 40"/>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41" name="TextBox 41"/>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grpSp>
        <p:nvGrpSpPr>
          <p:cNvPr id="42" name="Group 42"/>
          <p:cNvGrpSpPr/>
          <p:nvPr/>
        </p:nvGrpSpPr>
        <p:grpSpPr>
          <a:xfrm>
            <a:off x="7792117" y="9515475"/>
            <a:ext cx="2564597" cy="771525"/>
            <a:chOff x="0" y="0"/>
            <a:chExt cx="3419463" cy="1028700"/>
          </a:xfrm>
        </p:grpSpPr>
        <p:grpSp>
          <p:nvGrpSpPr>
            <p:cNvPr id="43" name="Group 43"/>
            <p:cNvGrpSpPr/>
            <p:nvPr/>
          </p:nvGrpSpPr>
          <p:grpSpPr>
            <a:xfrm>
              <a:off x="1550118" y="0"/>
              <a:ext cx="1086568" cy="1028700"/>
              <a:chOff x="0" y="0"/>
              <a:chExt cx="429261" cy="406400"/>
            </a:xfrm>
          </p:grpSpPr>
          <p:sp>
            <p:nvSpPr>
              <p:cNvPr id="44" name="Freeform 44"/>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45" name="TextBox 45"/>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46" name="Group 46"/>
            <p:cNvGrpSpPr/>
            <p:nvPr/>
          </p:nvGrpSpPr>
          <p:grpSpPr>
            <a:xfrm>
              <a:off x="773652" y="0"/>
              <a:ext cx="1086568" cy="1028700"/>
              <a:chOff x="0" y="0"/>
              <a:chExt cx="429261" cy="406400"/>
            </a:xfrm>
          </p:grpSpPr>
          <p:sp>
            <p:nvSpPr>
              <p:cNvPr id="47" name="Freeform 47"/>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48" name="TextBox 48"/>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49" name="Group 49"/>
            <p:cNvGrpSpPr/>
            <p:nvPr/>
          </p:nvGrpSpPr>
          <p:grpSpPr>
            <a:xfrm>
              <a:off x="0" y="0"/>
              <a:ext cx="1086568" cy="1028700"/>
              <a:chOff x="0" y="0"/>
              <a:chExt cx="429261" cy="406400"/>
            </a:xfrm>
          </p:grpSpPr>
          <p:sp>
            <p:nvSpPr>
              <p:cNvPr id="50" name="Freeform 50"/>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51" name="TextBox 51"/>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52" name="Group 52"/>
            <p:cNvGrpSpPr/>
            <p:nvPr/>
          </p:nvGrpSpPr>
          <p:grpSpPr>
            <a:xfrm>
              <a:off x="2332894" y="0"/>
              <a:ext cx="1086568" cy="1028700"/>
              <a:chOff x="0" y="0"/>
              <a:chExt cx="429261" cy="406400"/>
            </a:xfrm>
          </p:grpSpPr>
          <p:sp>
            <p:nvSpPr>
              <p:cNvPr id="53" name="Freeform 53"/>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54" name="TextBox 54"/>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grpSp>
        <p:nvGrpSpPr>
          <p:cNvPr id="55" name="Group 55"/>
          <p:cNvGrpSpPr/>
          <p:nvPr/>
        </p:nvGrpSpPr>
        <p:grpSpPr>
          <a:xfrm>
            <a:off x="10356714" y="9515475"/>
            <a:ext cx="2564597" cy="771525"/>
            <a:chOff x="0" y="0"/>
            <a:chExt cx="3419463" cy="1028700"/>
          </a:xfrm>
        </p:grpSpPr>
        <p:grpSp>
          <p:nvGrpSpPr>
            <p:cNvPr id="56" name="Group 56"/>
            <p:cNvGrpSpPr/>
            <p:nvPr/>
          </p:nvGrpSpPr>
          <p:grpSpPr>
            <a:xfrm>
              <a:off x="1550118" y="0"/>
              <a:ext cx="1086568" cy="1028700"/>
              <a:chOff x="0" y="0"/>
              <a:chExt cx="429261" cy="406400"/>
            </a:xfrm>
          </p:grpSpPr>
          <p:sp>
            <p:nvSpPr>
              <p:cNvPr id="57" name="Freeform 57"/>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58" name="TextBox 58"/>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59" name="Group 59"/>
            <p:cNvGrpSpPr/>
            <p:nvPr/>
          </p:nvGrpSpPr>
          <p:grpSpPr>
            <a:xfrm>
              <a:off x="773652" y="0"/>
              <a:ext cx="1086568" cy="1028700"/>
              <a:chOff x="0" y="0"/>
              <a:chExt cx="429261" cy="406400"/>
            </a:xfrm>
          </p:grpSpPr>
          <p:sp>
            <p:nvSpPr>
              <p:cNvPr id="60" name="Freeform 60"/>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61" name="TextBox 61"/>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62" name="Group 62"/>
            <p:cNvGrpSpPr/>
            <p:nvPr/>
          </p:nvGrpSpPr>
          <p:grpSpPr>
            <a:xfrm>
              <a:off x="0" y="0"/>
              <a:ext cx="1086568" cy="1028700"/>
              <a:chOff x="0" y="0"/>
              <a:chExt cx="429261" cy="406400"/>
            </a:xfrm>
          </p:grpSpPr>
          <p:sp>
            <p:nvSpPr>
              <p:cNvPr id="63" name="Freeform 63"/>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64" name="TextBox 64"/>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65" name="Group 65"/>
            <p:cNvGrpSpPr/>
            <p:nvPr/>
          </p:nvGrpSpPr>
          <p:grpSpPr>
            <a:xfrm>
              <a:off x="2332894" y="0"/>
              <a:ext cx="1086568" cy="1028700"/>
              <a:chOff x="0" y="0"/>
              <a:chExt cx="429261" cy="406400"/>
            </a:xfrm>
          </p:grpSpPr>
          <p:sp>
            <p:nvSpPr>
              <p:cNvPr id="66" name="Freeform 66"/>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67" name="TextBox 67"/>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grpSp>
        <p:nvGrpSpPr>
          <p:cNvPr id="68" name="Group 68"/>
          <p:cNvGrpSpPr/>
          <p:nvPr/>
        </p:nvGrpSpPr>
        <p:grpSpPr>
          <a:xfrm>
            <a:off x="12842739" y="9515475"/>
            <a:ext cx="2564597" cy="771525"/>
            <a:chOff x="0" y="0"/>
            <a:chExt cx="3419463" cy="1028700"/>
          </a:xfrm>
        </p:grpSpPr>
        <p:grpSp>
          <p:nvGrpSpPr>
            <p:cNvPr id="69" name="Group 69"/>
            <p:cNvGrpSpPr/>
            <p:nvPr/>
          </p:nvGrpSpPr>
          <p:grpSpPr>
            <a:xfrm>
              <a:off x="1550118" y="0"/>
              <a:ext cx="1086568" cy="1028700"/>
              <a:chOff x="0" y="0"/>
              <a:chExt cx="429261" cy="406400"/>
            </a:xfrm>
          </p:grpSpPr>
          <p:sp>
            <p:nvSpPr>
              <p:cNvPr id="70" name="Freeform 70"/>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71" name="TextBox 71"/>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72" name="Group 72"/>
            <p:cNvGrpSpPr/>
            <p:nvPr/>
          </p:nvGrpSpPr>
          <p:grpSpPr>
            <a:xfrm>
              <a:off x="773652" y="0"/>
              <a:ext cx="1086568" cy="1028700"/>
              <a:chOff x="0" y="0"/>
              <a:chExt cx="429261" cy="406400"/>
            </a:xfrm>
          </p:grpSpPr>
          <p:sp>
            <p:nvSpPr>
              <p:cNvPr id="73" name="Freeform 73"/>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74" name="TextBox 74"/>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75" name="Group 75"/>
            <p:cNvGrpSpPr/>
            <p:nvPr/>
          </p:nvGrpSpPr>
          <p:grpSpPr>
            <a:xfrm>
              <a:off x="0" y="0"/>
              <a:ext cx="1086568" cy="1028700"/>
              <a:chOff x="0" y="0"/>
              <a:chExt cx="429261" cy="406400"/>
            </a:xfrm>
          </p:grpSpPr>
          <p:sp>
            <p:nvSpPr>
              <p:cNvPr id="76" name="Freeform 76"/>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77" name="TextBox 77"/>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78" name="Group 78"/>
            <p:cNvGrpSpPr/>
            <p:nvPr/>
          </p:nvGrpSpPr>
          <p:grpSpPr>
            <a:xfrm>
              <a:off x="2332894" y="0"/>
              <a:ext cx="1086568" cy="1028700"/>
              <a:chOff x="0" y="0"/>
              <a:chExt cx="429261" cy="406400"/>
            </a:xfrm>
          </p:grpSpPr>
          <p:sp>
            <p:nvSpPr>
              <p:cNvPr id="79" name="Freeform 79"/>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80" name="TextBox 80"/>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sp>
        <p:nvSpPr>
          <p:cNvPr id="81" name="TextBox 81"/>
          <p:cNvSpPr txBox="1"/>
          <p:nvPr/>
        </p:nvSpPr>
        <p:spPr>
          <a:xfrm>
            <a:off x="8774981" y="-39420"/>
            <a:ext cx="1581732" cy="1068120"/>
          </a:xfrm>
          <a:prstGeom prst="rect">
            <a:avLst/>
          </a:prstGeom>
        </p:spPr>
        <p:txBody>
          <a:bodyPr lIns="0" tIns="0" rIns="0" bIns="0" rtlCol="0" anchor="t">
            <a:spAutoFit/>
          </a:bodyPr>
          <a:lstStyle/>
          <a:p>
            <a:pPr algn="ctr">
              <a:lnSpc>
                <a:spcPts val="8718"/>
              </a:lnSpc>
            </a:pPr>
            <a:r>
              <a:rPr lang="en-US" sz="6227" b="1">
                <a:solidFill>
                  <a:srgbClr val="FFFFFF"/>
                </a:solidFill>
                <a:latin typeface="Noto Sans Bold"/>
                <a:ea typeface="Noto Sans Bold"/>
                <a:cs typeface="Noto Sans Bold"/>
                <a:sym typeface="Noto Sans Bold"/>
              </a:rPr>
              <a:t>背景</a:t>
            </a:r>
          </a:p>
        </p:txBody>
      </p:sp>
      <p:sp>
        <p:nvSpPr>
          <p:cNvPr id="82" name="TextBox 82"/>
          <p:cNvSpPr txBox="1"/>
          <p:nvPr/>
        </p:nvSpPr>
        <p:spPr>
          <a:xfrm>
            <a:off x="7116419" y="5449749"/>
            <a:ext cx="7008618" cy="3195940"/>
          </a:xfrm>
          <a:prstGeom prst="rect">
            <a:avLst/>
          </a:prstGeom>
        </p:spPr>
        <p:txBody>
          <a:bodyPr lIns="0" tIns="0" rIns="0" bIns="0" rtlCol="0" anchor="t">
            <a:spAutoFit/>
          </a:bodyPr>
          <a:lstStyle/>
          <a:p>
            <a:pPr marL="645160" lvl="1" indent="-322580" algn="l">
              <a:lnSpc>
                <a:spcPts val="4185"/>
              </a:lnSpc>
              <a:buFont typeface="Arial"/>
              <a:buChar char="•"/>
            </a:pPr>
            <a:r>
              <a:rPr lang="en-US" sz="2950" dirty="0" err="1">
                <a:solidFill>
                  <a:srgbClr val="FFFFFF"/>
                </a:solidFill>
                <a:latin typeface="Noto Sans"/>
                <a:ea typeface="Noto Sans"/>
                <a:cs typeface="Noto Sans"/>
                <a:sym typeface="Noto Sans"/>
              </a:rPr>
              <a:t>交通事故防止への社会的ニーズの高まり</a:t>
            </a:r>
            <a:endParaRPr lang="en-US" sz="2950" dirty="0" err="1"/>
          </a:p>
          <a:p>
            <a:pPr marL="645160" lvl="1" indent="-322580" algn="l">
              <a:lnSpc>
                <a:spcPts val="4185"/>
              </a:lnSpc>
              <a:buFont typeface="Arial"/>
              <a:buChar char="•"/>
            </a:pPr>
            <a:r>
              <a:rPr lang="en-US" sz="2950" dirty="0" err="1">
                <a:solidFill>
                  <a:srgbClr val="FFFFFF"/>
                </a:solidFill>
                <a:latin typeface="Noto Sans"/>
                <a:ea typeface="Noto Sans"/>
                <a:cs typeface="Noto Sans"/>
                <a:sym typeface="Noto Sans"/>
              </a:rPr>
              <a:t>自動車へのAI技術導入の加速</a:t>
            </a:r>
            <a:endParaRPr lang="en-US" sz="2950" dirty="0" err="1">
              <a:solidFill>
                <a:srgbClr val="FFFFFF"/>
              </a:solidFill>
              <a:latin typeface="Noto Sans"/>
              <a:ea typeface="Noto Sans"/>
              <a:cs typeface="Noto Sans"/>
            </a:endParaRPr>
          </a:p>
          <a:p>
            <a:pPr marL="645160" lvl="1" indent="-322580" algn="l">
              <a:lnSpc>
                <a:spcPts val="4185"/>
              </a:lnSpc>
              <a:buFont typeface="Arial"/>
              <a:buChar char="•"/>
            </a:pPr>
            <a:r>
              <a:rPr lang="en-US" sz="2950" dirty="0" err="1">
                <a:solidFill>
                  <a:srgbClr val="FFFFFF"/>
                </a:solidFill>
                <a:latin typeface="Noto Sans"/>
                <a:ea typeface="Noto Sans"/>
                <a:cs typeface="Noto Sans"/>
                <a:sym typeface="Noto Sans"/>
              </a:rPr>
              <a:t>リアルタイムな危険検知の重要性</a:t>
            </a:r>
            <a:endParaRPr lang="en-US" sz="2950" dirty="0" err="1">
              <a:solidFill>
                <a:srgbClr val="FFFFFF"/>
              </a:solidFill>
              <a:latin typeface="Noto Sans"/>
              <a:ea typeface="Noto Sans"/>
              <a:cs typeface="Noto Sans"/>
            </a:endParaRPr>
          </a:p>
          <a:p>
            <a:pPr marL="645160" lvl="1" indent="-322580" algn="l">
              <a:lnSpc>
                <a:spcPts val="4185"/>
              </a:lnSpc>
              <a:buFont typeface="Arial"/>
              <a:buChar char="•"/>
            </a:pPr>
            <a:r>
              <a:rPr lang="en-US" sz="2950" dirty="0" err="1">
                <a:solidFill>
                  <a:srgbClr val="FFFFFF"/>
                </a:solidFill>
                <a:latin typeface="Noto Sans"/>
                <a:ea typeface="Noto Sans"/>
                <a:cs typeface="Noto Sans"/>
                <a:sym typeface="Noto Sans"/>
              </a:rPr>
              <a:t>ドライバー支援システムの需要増加</a:t>
            </a:r>
            <a:endParaRPr lang="en-US" sz="2950" dirty="0" err="1">
              <a:solidFill>
                <a:srgbClr val="FFFFFF"/>
              </a:solidFill>
              <a:latin typeface="Noto Sans"/>
              <a:ea typeface="Noto Sans"/>
              <a:cs typeface="Noto Sans"/>
            </a:endParaRPr>
          </a:p>
          <a:p>
            <a:pPr algn="ctr">
              <a:lnSpc>
                <a:spcPts val="4185"/>
              </a:lnSpc>
            </a:pPr>
            <a:endParaRPr lang="en-US" sz="2989">
              <a:solidFill>
                <a:srgbClr val="FFFFFF"/>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45454"/>
        </a:solidFill>
        <a:effectLst/>
      </p:bgPr>
    </p:bg>
    <p:spTree>
      <p:nvGrpSpPr>
        <p:cNvPr id="1" name=""/>
        <p:cNvGrpSpPr/>
        <p:nvPr/>
      </p:nvGrpSpPr>
      <p:grpSpPr>
        <a:xfrm>
          <a:off x="0" y="0"/>
          <a:ext cx="0" cy="0"/>
          <a:chOff x="0" y="0"/>
          <a:chExt cx="0" cy="0"/>
        </a:xfrm>
      </p:grpSpPr>
      <p:grpSp>
        <p:nvGrpSpPr>
          <p:cNvPr id="2" name="Group 2"/>
          <p:cNvGrpSpPr/>
          <p:nvPr/>
        </p:nvGrpSpPr>
        <p:grpSpPr>
          <a:xfrm>
            <a:off x="-2761385" y="-1023334"/>
            <a:ext cx="11916744" cy="11600116"/>
            <a:chOff x="0" y="0"/>
            <a:chExt cx="406400" cy="395602"/>
          </a:xfrm>
        </p:grpSpPr>
        <p:sp>
          <p:nvSpPr>
            <p:cNvPr id="3" name="Freeform 3"/>
            <p:cNvSpPr/>
            <p:nvPr/>
          </p:nvSpPr>
          <p:spPr>
            <a:xfrm>
              <a:off x="0" y="0"/>
              <a:ext cx="406400" cy="395602"/>
            </a:xfrm>
            <a:custGeom>
              <a:avLst/>
              <a:gdLst/>
              <a:ahLst/>
              <a:cxnLst/>
              <a:rect l="l" t="t" r="r" b="b"/>
              <a:pathLst>
                <a:path w="406400" h="395602">
                  <a:moveTo>
                    <a:pt x="203200" y="0"/>
                  </a:moveTo>
                  <a:lnTo>
                    <a:pt x="406400" y="0"/>
                  </a:lnTo>
                  <a:lnTo>
                    <a:pt x="203200" y="395602"/>
                  </a:lnTo>
                  <a:lnTo>
                    <a:pt x="0" y="395602"/>
                  </a:lnTo>
                  <a:lnTo>
                    <a:pt x="203200" y="0"/>
                  </a:lnTo>
                  <a:close/>
                </a:path>
              </a:pathLst>
            </a:custGeom>
            <a:gradFill rotWithShape="1">
              <a:gsLst>
                <a:gs pos="0">
                  <a:srgbClr val="000000">
                    <a:alpha val="100000"/>
                  </a:srgbClr>
                </a:gs>
                <a:gs pos="100000">
                  <a:srgbClr val="FFFFFF">
                    <a:alpha val="100000"/>
                  </a:srgbClr>
                </a:gs>
              </a:gsLst>
              <a:lin ang="0"/>
            </a:gradFill>
          </p:spPr>
          <p:txBody>
            <a:bodyPr/>
            <a:lstStyle/>
            <a:p>
              <a:endParaRPr lang="en-US"/>
            </a:p>
          </p:txBody>
        </p:sp>
        <p:sp>
          <p:nvSpPr>
            <p:cNvPr id="4" name="TextBox 4"/>
            <p:cNvSpPr txBox="1"/>
            <p:nvPr/>
          </p:nvSpPr>
          <p:spPr>
            <a:xfrm>
              <a:off x="101600" y="28575"/>
              <a:ext cx="203200" cy="367027"/>
            </a:xfrm>
            <a:prstGeom prst="rect">
              <a:avLst/>
            </a:prstGeom>
          </p:spPr>
          <p:txBody>
            <a:bodyPr lIns="50800" tIns="50800" rIns="50800" bIns="50800" rtlCol="0" anchor="ctr"/>
            <a:lstStyle/>
            <a:p>
              <a:pPr algn="ctr">
                <a:lnSpc>
                  <a:spcPts val="2649"/>
                </a:lnSpc>
              </a:pPr>
              <a:endParaRPr/>
            </a:p>
          </p:txBody>
        </p:sp>
      </p:grpSp>
      <p:grpSp>
        <p:nvGrpSpPr>
          <p:cNvPr id="5" name="Group 5"/>
          <p:cNvGrpSpPr/>
          <p:nvPr/>
        </p:nvGrpSpPr>
        <p:grpSpPr>
          <a:xfrm>
            <a:off x="1678293" y="4269157"/>
            <a:ext cx="5876989" cy="4349155"/>
            <a:chOff x="0" y="0"/>
            <a:chExt cx="546145" cy="404164"/>
          </a:xfrm>
        </p:grpSpPr>
        <p:sp>
          <p:nvSpPr>
            <p:cNvPr id="6" name="Freeform 6"/>
            <p:cNvSpPr/>
            <p:nvPr/>
          </p:nvSpPr>
          <p:spPr>
            <a:xfrm>
              <a:off x="0" y="0"/>
              <a:ext cx="546145" cy="404164"/>
            </a:xfrm>
            <a:custGeom>
              <a:avLst/>
              <a:gdLst/>
              <a:ahLst/>
              <a:cxnLst/>
              <a:rect l="l" t="t" r="r" b="b"/>
              <a:pathLst>
                <a:path w="546145" h="404164">
                  <a:moveTo>
                    <a:pt x="0" y="0"/>
                  </a:moveTo>
                  <a:lnTo>
                    <a:pt x="342945" y="0"/>
                  </a:lnTo>
                  <a:lnTo>
                    <a:pt x="546145" y="202082"/>
                  </a:lnTo>
                  <a:lnTo>
                    <a:pt x="342945" y="404164"/>
                  </a:lnTo>
                  <a:lnTo>
                    <a:pt x="0" y="404164"/>
                  </a:lnTo>
                  <a:lnTo>
                    <a:pt x="203200" y="202082"/>
                  </a:lnTo>
                  <a:lnTo>
                    <a:pt x="0" y="0"/>
                  </a:lnTo>
                  <a:close/>
                </a:path>
              </a:pathLst>
            </a:custGeom>
            <a:blipFill>
              <a:blip r:embed="rId2"/>
              <a:stretch>
                <a:fillRect t="-96217" b="-96217"/>
              </a:stretch>
            </a:blipFill>
          </p:spPr>
          <p:txBody>
            <a:bodyPr/>
            <a:lstStyle/>
            <a:p>
              <a:endParaRPr lang="en-US"/>
            </a:p>
          </p:txBody>
        </p:sp>
      </p:grpSp>
      <p:grpSp>
        <p:nvGrpSpPr>
          <p:cNvPr id="7" name="Group 7"/>
          <p:cNvGrpSpPr/>
          <p:nvPr/>
        </p:nvGrpSpPr>
        <p:grpSpPr>
          <a:xfrm>
            <a:off x="6216865" y="4269157"/>
            <a:ext cx="5876989" cy="4349155"/>
            <a:chOff x="0" y="0"/>
            <a:chExt cx="546145" cy="404164"/>
          </a:xfrm>
        </p:grpSpPr>
        <p:sp>
          <p:nvSpPr>
            <p:cNvPr id="8" name="Freeform 8"/>
            <p:cNvSpPr/>
            <p:nvPr/>
          </p:nvSpPr>
          <p:spPr>
            <a:xfrm>
              <a:off x="0" y="0"/>
              <a:ext cx="546145" cy="404164"/>
            </a:xfrm>
            <a:custGeom>
              <a:avLst/>
              <a:gdLst/>
              <a:ahLst/>
              <a:cxnLst/>
              <a:rect l="l" t="t" r="r" b="b"/>
              <a:pathLst>
                <a:path w="546145" h="404164">
                  <a:moveTo>
                    <a:pt x="0" y="0"/>
                  </a:moveTo>
                  <a:lnTo>
                    <a:pt x="342945" y="0"/>
                  </a:lnTo>
                  <a:lnTo>
                    <a:pt x="546145" y="202082"/>
                  </a:lnTo>
                  <a:lnTo>
                    <a:pt x="342945" y="404164"/>
                  </a:lnTo>
                  <a:lnTo>
                    <a:pt x="0" y="404164"/>
                  </a:lnTo>
                  <a:lnTo>
                    <a:pt x="203200" y="202082"/>
                  </a:lnTo>
                  <a:lnTo>
                    <a:pt x="0" y="0"/>
                  </a:lnTo>
                  <a:close/>
                </a:path>
              </a:pathLst>
            </a:custGeom>
            <a:blipFill>
              <a:blip r:embed="rId3"/>
              <a:stretch>
                <a:fillRect t="-96217" b="-96217"/>
              </a:stretch>
            </a:blipFill>
          </p:spPr>
          <p:txBody>
            <a:bodyPr/>
            <a:lstStyle/>
            <a:p>
              <a:endParaRPr lang="en-US"/>
            </a:p>
          </p:txBody>
        </p:sp>
      </p:grpSp>
      <p:grpSp>
        <p:nvGrpSpPr>
          <p:cNvPr id="12" name="Group 12"/>
          <p:cNvGrpSpPr/>
          <p:nvPr/>
        </p:nvGrpSpPr>
        <p:grpSpPr>
          <a:xfrm rot="10568684">
            <a:off x="11939950" y="-1165302"/>
            <a:ext cx="11772419" cy="14418494"/>
            <a:chOff x="0" y="0"/>
            <a:chExt cx="411203" cy="503629"/>
          </a:xfrm>
        </p:grpSpPr>
        <p:sp>
          <p:nvSpPr>
            <p:cNvPr id="13" name="Freeform 13"/>
            <p:cNvSpPr/>
            <p:nvPr/>
          </p:nvSpPr>
          <p:spPr>
            <a:xfrm>
              <a:off x="0" y="0"/>
              <a:ext cx="411203" cy="503629"/>
            </a:xfrm>
            <a:custGeom>
              <a:avLst/>
              <a:gdLst/>
              <a:ahLst/>
              <a:cxnLst/>
              <a:rect l="l" t="t" r="r" b="b"/>
              <a:pathLst>
                <a:path w="411203" h="503629">
                  <a:moveTo>
                    <a:pt x="203200" y="0"/>
                  </a:moveTo>
                  <a:lnTo>
                    <a:pt x="411203" y="0"/>
                  </a:lnTo>
                  <a:lnTo>
                    <a:pt x="208003" y="503629"/>
                  </a:lnTo>
                  <a:lnTo>
                    <a:pt x="0" y="503629"/>
                  </a:lnTo>
                  <a:lnTo>
                    <a:pt x="203200" y="0"/>
                  </a:lnTo>
                  <a:close/>
                </a:path>
              </a:pathLst>
            </a:custGeom>
            <a:gradFill rotWithShape="1">
              <a:gsLst>
                <a:gs pos="0">
                  <a:srgbClr val="000000">
                    <a:alpha val="100000"/>
                  </a:srgbClr>
                </a:gs>
                <a:gs pos="100000">
                  <a:srgbClr val="FFFFFF">
                    <a:alpha val="100000"/>
                  </a:srgbClr>
                </a:gs>
              </a:gsLst>
              <a:lin ang="0"/>
            </a:gradFill>
          </p:spPr>
          <p:txBody>
            <a:bodyPr/>
            <a:lstStyle/>
            <a:p>
              <a:endParaRPr lang="en-US"/>
            </a:p>
          </p:txBody>
        </p:sp>
        <p:sp>
          <p:nvSpPr>
            <p:cNvPr id="14" name="TextBox 14"/>
            <p:cNvSpPr txBox="1"/>
            <p:nvPr/>
          </p:nvSpPr>
          <p:spPr>
            <a:xfrm>
              <a:off x="101600" y="28575"/>
              <a:ext cx="208003" cy="475054"/>
            </a:xfrm>
            <a:prstGeom prst="rect">
              <a:avLst/>
            </a:prstGeom>
          </p:spPr>
          <p:txBody>
            <a:bodyPr lIns="50800" tIns="50800" rIns="50800" bIns="50800" rtlCol="0" anchor="ctr"/>
            <a:lstStyle/>
            <a:p>
              <a:pPr algn="ctr">
                <a:lnSpc>
                  <a:spcPts val="2649"/>
                </a:lnSpc>
              </a:pPr>
              <a:endParaRPr/>
            </a:p>
          </p:txBody>
        </p:sp>
      </p:grpSp>
      <p:grpSp>
        <p:nvGrpSpPr>
          <p:cNvPr id="15" name="Group 15"/>
          <p:cNvGrpSpPr/>
          <p:nvPr/>
        </p:nvGrpSpPr>
        <p:grpSpPr>
          <a:xfrm>
            <a:off x="10732718" y="4269157"/>
            <a:ext cx="5876989" cy="4349155"/>
            <a:chOff x="0" y="0"/>
            <a:chExt cx="546145" cy="404164"/>
          </a:xfrm>
        </p:grpSpPr>
        <p:sp>
          <p:nvSpPr>
            <p:cNvPr id="16" name="Freeform 16"/>
            <p:cNvSpPr/>
            <p:nvPr/>
          </p:nvSpPr>
          <p:spPr>
            <a:xfrm>
              <a:off x="0" y="0"/>
              <a:ext cx="546145" cy="404164"/>
            </a:xfrm>
            <a:custGeom>
              <a:avLst/>
              <a:gdLst/>
              <a:ahLst/>
              <a:cxnLst/>
              <a:rect l="l" t="t" r="r" b="b"/>
              <a:pathLst>
                <a:path w="546145" h="404164">
                  <a:moveTo>
                    <a:pt x="0" y="0"/>
                  </a:moveTo>
                  <a:lnTo>
                    <a:pt x="342945" y="0"/>
                  </a:lnTo>
                  <a:lnTo>
                    <a:pt x="546145" y="202082"/>
                  </a:lnTo>
                  <a:lnTo>
                    <a:pt x="342945" y="404164"/>
                  </a:lnTo>
                  <a:lnTo>
                    <a:pt x="0" y="404164"/>
                  </a:lnTo>
                  <a:lnTo>
                    <a:pt x="203200" y="202082"/>
                  </a:lnTo>
                  <a:lnTo>
                    <a:pt x="0" y="0"/>
                  </a:lnTo>
                  <a:close/>
                </a:path>
              </a:pathLst>
            </a:custGeom>
            <a:blipFill>
              <a:blip r:embed="rId4"/>
              <a:stretch>
                <a:fillRect t="-96085" b="-96085"/>
              </a:stretch>
            </a:blipFill>
          </p:spPr>
          <p:txBody>
            <a:bodyPr/>
            <a:lstStyle/>
            <a:p>
              <a:endParaRPr lang="en-US"/>
            </a:p>
          </p:txBody>
        </p:sp>
      </p:grpSp>
      <p:sp>
        <p:nvSpPr>
          <p:cNvPr id="17" name="Freeform 17"/>
          <p:cNvSpPr/>
          <p:nvPr/>
        </p:nvSpPr>
        <p:spPr>
          <a:xfrm>
            <a:off x="14712274" y="7435261"/>
            <a:ext cx="6227772" cy="3646077"/>
          </a:xfrm>
          <a:custGeom>
            <a:avLst/>
            <a:gdLst/>
            <a:ahLst/>
            <a:cxnLst/>
            <a:rect l="l" t="t" r="r" b="b"/>
            <a:pathLst>
              <a:path w="6227772" h="3646077">
                <a:moveTo>
                  <a:pt x="0" y="0"/>
                </a:moveTo>
                <a:lnTo>
                  <a:pt x="6227772" y="0"/>
                </a:lnTo>
                <a:lnTo>
                  <a:pt x="6227772" y="3646078"/>
                </a:lnTo>
                <a:lnTo>
                  <a:pt x="0" y="36460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8"/>
          <p:cNvGrpSpPr/>
          <p:nvPr/>
        </p:nvGrpSpPr>
        <p:grpSpPr>
          <a:xfrm>
            <a:off x="4009412" y="9194406"/>
            <a:ext cx="10666885" cy="3208991"/>
            <a:chOff x="0" y="0"/>
            <a:chExt cx="14222513" cy="4278654"/>
          </a:xfrm>
        </p:grpSpPr>
        <p:grpSp>
          <p:nvGrpSpPr>
            <p:cNvPr id="19" name="Group 19"/>
            <p:cNvGrpSpPr/>
            <p:nvPr/>
          </p:nvGrpSpPr>
          <p:grpSpPr>
            <a:xfrm>
              <a:off x="6447380" y="0"/>
              <a:ext cx="4519344" cy="4278654"/>
              <a:chOff x="0" y="0"/>
              <a:chExt cx="429261" cy="406400"/>
            </a:xfrm>
          </p:grpSpPr>
          <p:sp>
            <p:nvSpPr>
              <p:cNvPr id="20" name="Freeform 20"/>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1" name="TextBox 21"/>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22" name="Group 22"/>
            <p:cNvGrpSpPr/>
            <p:nvPr/>
          </p:nvGrpSpPr>
          <p:grpSpPr>
            <a:xfrm>
              <a:off x="3217839" y="0"/>
              <a:ext cx="4519344" cy="4278654"/>
              <a:chOff x="0" y="0"/>
              <a:chExt cx="429261" cy="406400"/>
            </a:xfrm>
          </p:grpSpPr>
          <p:sp>
            <p:nvSpPr>
              <p:cNvPr id="23" name="Freeform 23"/>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4" name="TextBox 24"/>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25" name="Group 25"/>
            <p:cNvGrpSpPr/>
            <p:nvPr/>
          </p:nvGrpSpPr>
          <p:grpSpPr>
            <a:xfrm>
              <a:off x="0" y="0"/>
              <a:ext cx="4519344" cy="4278654"/>
              <a:chOff x="0" y="0"/>
              <a:chExt cx="429261" cy="406400"/>
            </a:xfrm>
          </p:grpSpPr>
          <p:sp>
            <p:nvSpPr>
              <p:cNvPr id="26" name="Freeform 26"/>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27" name="TextBox 27"/>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nvGrpSpPr>
            <p:cNvPr id="28" name="Group 28"/>
            <p:cNvGrpSpPr/>
            <p:nvPr/>
          </p:nvGrpSpPr>
          <p:grpSpPr>
            <a:xfrm>
              <a:off x="9703169" y="0"/>
              <a:ext cx="4519344" cy="4278654"/>
              <a:chOff x="0" y="0"/>
              <a:chExt cx="429261" cy="406400"/>
            </a:xfrm>
          </p:grpSpPr>
          <p:sp>
            <p:nvSpPr>
              <p:cNvPr id="29" name="Freeform 29"/>
              <p:cNvSpPr/>
              <p:nvPr/>
            </p:nvSpPr>
            <p:spPr>
              <a:xfrm>
                <a:off x="0" y="0"/>
                <a:ext cx="429261" cy="406400"/>
              </a:xfrm>
              <a:custGeom>
                <a:avLst/>
                <a:gdLst/>
                <a:ahLst/>
                <a:cxnLst/>
                <a:rect l="l" t="t" r="r" b="b"/>
                <a:pathLst>
                  <a:path w="429261" h="406400">
                    <a:moveTo>
                      <a:pt x="0" y="0"/>
                    </a:moveTo>
                    <a:lnTo>
                      <a:pt x="226061" y="0"/>
                    </a:lnTo>
                    <a:lnTo>
                      <a:pt x="429261" y="203200"/>
                    </a:lnTo>
                    <a:lnTo>
                      <a:pt x="226061" y="406400"/>
                    </a:lnTo>
                    <a:lnTo>
                      <a:pt x="0" y="406400"/>
                    </a:lnTo>
                    <a:lnTo>
                      <a:pt x="203200" y="203200"/>
                    </a:lnTo>
                    <a:lnTo>
                      <a:pt x="0" y="0"/>
                    </a:lnTo>
                    <a:close/>
                  </a:path>
                </a:pathLst>
              </a:custGeom>
              <a:ln w="19050" cap="sq">
                <a:solidFill>
                  <a:srgbClr val="FFFFFF"/>
                </a:solidFill>
                <a:prstDash val="solid"/>
                <a:miter/>
              </a:ln>
            </p:spPr>
            <p:txBody>
              <a:bodyPr/>
              <a:lstStyle/>
              <a:p>
                <a:endParaRPr lang="en-US"/>
              </a:p>
            </p:txBody>
          </p:sp>
          <p:sp>
            <p:nvSpPr>
              <p:cNvPr id="30" name="TextBox 30"/>
              <p:cNvSpPr txBox="1"/>
              <p:nvPr/>
            </p:nvSpPr>
            <p:spPr>
              <a:xfrm>
                <a:off x="177800" y="28575"/>
                <a:ext cx="175261" cy="377825"/>
              </a:xfrm>
              <a:prstGeom prst="rect">
                <a:avLst/>
              </a:prstGeom>
            </p:spPr>
            <p:txBody>
              <a:bodyPr lIns="50800" tIns="50800" rIns="50800" bIns="50800" rtlCol="0" anchor="ctr"/>
              <a:lstStyle/>
              <a:p>
                <a:pPr algn="ctr">
                  <a:lnSpc>
                    <a:spcPts val="2649"/>
                  </a:lnSpc>
                </a:pPr>
                <a:endParaRPr/>
              </a:p>
            </p:txBody>
          </p:sp>
        </p:grpSp>
      </p:grpSp>
      <p:sp>
        <p:nvSpPr>
          <p:cNvPr id="31" name="Freeform 31"/>
          <p:cNvSpPr/>
          <p:nvPr/>
        </p:nvSpPr>
        <p:spPr>
          <a:xfrm rot="5400000">
            <a:off x="1279307" y="8540930"/>
            <a:ext cx="607282" cy="1603437"/>
          </a:xfrm>
          <a:custGeom>
            <a:avLst/>
            <a:gdLst/>
            <a:ahLst/>
            <a:cxnLst/>
            <a:rect l="l" t="t" r="r" b="b"/>
            <a:pathLst>
              <a:path w="607282" h="1603437">
                <a:moveTo>
                  <a:pt x="0" y="0"/>
                </a:moveTo>
                <a:lnTo>
                  <a:pt x="607281" y="0"/>
                </a:lnTo>
                <a:lnTo>
                  <a:pt x="607281" y="1603437"/>
                </a:lnTo>
                <a:lnTo>
                  <a:pt x="0" y="160343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2" name="TextBox 32"/>
          <p:cNvSpPr txBox="1"/>
          <p:nvPr/>
        </p:nvSpPr>
        <p:spPr>
          <a:xfrm>
            <a:off x="1028700" y="603091"/>
            <a:ext cx="12088265" cy="2336892"/>
          </a:xfrm>
          <a:prstGeom prst="rect">
            <a:avLst/>
          </a:prstGeom>
        </p:spPr>
        <p:txBody>
          <a:bodyPr lIns="0" tIns="0" rIns="0" bIns="0" rtlCol="0" anchor="t">
            <a:spAutoFit/>
          </a:bodyPr>
          <a:lstStyle/>
          <a:p>
            <a:pPr algn="l">
              <a:lnSpc>
                <a:spcPts val="17927"/>
              </a:lnSpc>
            </a:pPr>
            <a:r>
              <a:rPr lang="en-US" sz="16912" b="1" i="1">
                <a:gradFill>
                  <a:gsLst>
                    <a:gs pos="0">
                      <a:srgbClr val="000000">
                        <a:alpha val="100000"/>
                      </a:srgbClr>
                    </a:gs>
                    <a:gs pos="100000">
                      <a:srgbClr val="3533CD">
                        <a:alpha val="100000"/>
                      </a:srgbClr>
                    </a:gs>
                  </a:gsLst>
                  <a:lin ang="0"/>
                </a:gradFill>
                <a:latin typeface="Proxima Nova Bold Italics"/>
                <a:ea typeface="Proxima Nova Bold Italics"/>
                <a:cs typeface="Proxima Nova Bold Italics"/>
                <a:sym typeface="Proxima Nova Bold Italics"/>
              </a:rPr>
              <a:t>目的</a:t>
            </a:r>
          </a:p>
        </p:txBody>
      </p:sp>
      <p:grpSp>
        <p:nvGrpSpPr>
          <p:cNvPr id="9" name="Group 9"/>
          <p:cNvGrpSpPr/>
          <p:nvPr/>
        </p:nvGrpSpPr>
        <p:grpSpPr>
          <a:xfrm>
            <a:off x="4417751" y="1768137"/>
            <a:ext cx="14951062" cy="2283571"/>
            <a:chOff x="0" y="0"/>
            <a:chExt cx="2605653" cy="397978"/>
          </a:xfrm>
        </p:grpSpPr>
        <p:sp>
          <p:nvSpPr>
            <p:cNvPr id="10" name="Freeform 10"/>
            <p:cNvSpPr/>
            <p:nvPr/>
          </p:nvSpPr>
          <p:spPr>
            <a:xfrm>
              <a:off x="0" y="0"/>
              <a:ext cx="2605653" cy="397978"/>
            </a:xfrm>
            <a:custGeom>
              <a:avLst/>
              <a:gdLst/>
              <a:ahLst/>
              <a:cxnLst/>
              <a:rect l="l" t="t" r="r" b="b"/>
              <a:pathLst>
                <a:path w="2605653" h="397978">
                  <a:moveTo>
                    <a:pt x="203200" y="0"/>
                  </a:moveTo>
                  <a:lnTo>
                    <a:pt x="2605653" y="0"/>
                  </a:lnTo>
                  <a:lnTo>
                    <a:pt x="2402453" y="397978"/>
                  </a:lnTo>
                  <a:lnTo>
                    <a:pt x="0" y="397978"/>
                  </a:lnTo>
                  <a:lnTo>
                    <a:pt x="203200" y="0"/>
                  </a:lnTo>
                  <a:close/>
                </a:path>
              </a:pathLst>
            </a:custGeom>
            <a:solidFill>
              <a:srgbClr val="232323"/>
            </a:solidFill>
          </p:spPr>
          <p:txBody>
            <a:bodyPr/>
            <a:lstStyle/>
            <a:p>
              <a:endParaRPr lang="en-US"/>
            </a:p>
          </p:txBody>
        </p:sp>
        <p:sp>
          <p:nvSpPr>
            <p:cNvPr id="11" name="TextBox 11"/>
            <p:cNvSpPr txBox="1"/>
            <p:nvPr/>
          </p:nvSpPr>
          <p:spPr>
            <a:xfrm>
              <a:off x="101600" y="28575"/>
              <a:ext cx="2402453" cy="369403"/>
            </a:xfrm>
            <a:prstGeom prst="rect">
              <a:avLst/>
            </a:prstGeom>
          </p:spPr>
          <p:txBody>
            <a:bodyPr lIns="50800" tIns="50800" rIns="50800" bIns="50800" rtlCol="0" anchor="ctr"/>
            <a:lstStyle/>
            <a:p>
              <a:pPr algn="ctr">
                <a:lnSpc>
                  <a:spcPts val="2649"/>
                </a:lnSpc>
              </a:pPr>
              <a:endParaRPr/>
            </a:p>
          </p:txBody>
        </p:sp>
      </p:grpSp>
      <p:sp>
        <p:nvSpPr>
          <p:cNvPr id="33" name="TextBox 33"/>
          <p:cNvSpPr txBox="1"/>
          <p:nvPr/>
        </p:nvSpPr>
        <p:spPr>
          <a:xfrm>
            <a:off x="6779479" y="1844607"/>
            <a:ext cx="10704724" cy="2584938"/>
          </a:xfrm>
          <a:prstGeom prst="rect">
            <a:avLst/>
          </a:prstGeom>
        </p:spPr>
        <p:txBody>
          <a:bodyPr wrap="square" lIns="0" tIns="0" rIns="0" bIns="0" rtlCol="0" anchor="t">
            <a:spAutoFit/>
          </a:bodyPr>
          <a:lstStyle/>
          <a:p>
            <a:pPr algn="l">
              <a:lnSpc>
                <a:spcPts val="4060"/>
              </a:lnSpc>
            </a:pPr>
            <a:r>
              <a:rPr lang="en-US" sz="2900" dirty="0" err="1">
                <a:gradFill>
                  <a:gsLst>
                    <a:gs pos="0">
                      <a:srgbClr val="A6A6A6">
                        <a:alpha val="100000"/>
                      </a:srgbClr>
                    </a:gs>
                    <a:gs pos="100000">
                      <a:srgbClr val="FFFFFF">
                        <a:alpha val="100000"/>
                      </a:srgbClr>
                    </a:gs>
                  </a:gsLst>
                  <a:lin ang="0"/>
                </a:gradFill>
                <a:latin typeface="Inter"/>
                <a:ea typeface="Inter"/>
                <a:cs typeface="Inter"/>
                <a:sym typeface="Inter"/>
              </a:rPr>
              <a:t>本システムの目的は、速度・加速度・ジャイロセンサ</a:t>
            </a:r>
            <a:r>
              <a:rPr lang="en-US" sz="2900" dirty="0">
                <a:gradFill>
                  <a:gsLst>
                    <a:gs pos="0">
                      <a:srgbClr val="A6A6A6">
                        <a:alpha val="100000"/>
                      </a:srgbClr>
                    </a:gs>
                    <a:gs pos="100000">
                      <a:srgbClr val="FFFFFF">
                        <a:alpha val="100000"/>
                      </a:srgbClr>
                    </a:gs>
                  </a:gsLst>
                  <a:lin ang="0"/>
                </a:gradFill>
                <a:latin typeface="Inter"/>
                <a:ea typeface="Inter"/>
                <a:cs typeface="Inter"/>
                <a:sym typeface="Inter"/>
              </a:rPr>
              <a:t>ー・</a:t>
            </a:r>
            <a:r>
              <a:rPr lang="en-US" sz="2900" dirty="0" err="1">
                <a:gradFill>
                  <a:gsLst>
                    <a:gs pos="0">
                      <a:srgbClr val="A6A6A6">
                        <a:alpha val="100000"/>
                      </a:srgbClr>
                    </a:gs>
                    <a:gs pos="100000">
                      <a:srgbClr val="FFFFFF">
                        <a:alpha val="100000"/>
                      </a:srgbClr>
                    </a:gs>
                  </a:gsLst>
                  <a:lin ang="0"/>
                </a:gradFill>
                <a:latin typeface="Inter"/>
                <a:ea typeface="Inter"/>
                <a:cs typeface="Inter"/>
                <a:sym typeface="Inter"/>
              </a:rPr>
              <a:t>周辺状況などのデータをAIで統合解析し</a:t>
            </a:r>
            <a:r>
              <a:rPr lang="en-US" sz="2900" dirty="0">
                <a:gradFill>
                  <a:gsLst>
                    <a:gs pos="0">
                      <a:srgbClr val="A6A6A6">
                        <a:alpha val="100000"/>
                      </a:srgbClr>
                    </a:gs>
                    <a:gs pos="100000">
                      <a:srgbClr val="FFFFFF">
                        <a:alpha val="100000"/>
                      </a:srgbClr>
                    </a:gs>
                  </a:gsLst>
                  <a:lin ang="0"/>
                </a:gradFill>
                <a:latin typeface="Inter"/>
                <a:ea typeface="Inter"/>
                <a:cs typeface="Inter"/>
                <a:sym typeface="Inter"/>
              </a:rPr>
              <a:t>、「</a:t>
            </a:r>
            <a:r>
              <a:rPr lang="en-US" sz="2900" dirty="0" err="1">
                <a:gradFill>
                  <a:gsLst>
                    <a:gs pos="0">
                      <a:srgbClr val="A6A6A6">
                        <a:alpha val="100000"/>
                      </a:srgbClr>
                    </a:gs>
                    <a:gs pos="100000">
                      <a:srgbClr val="FFFFFF">
                        <a:alpha val="100000"/>
                      </a:srgbClr>
                    </a:gs>
                  </a:gsLst>
                  <a:lin ang="0"/>
                </a:gradFill>
                <a:latin typeface="Inter"/>
                <a:ea typeface="Inter"/>
                <a:cs typeface="Inter"/>
                <a:sym typeface="Inter"/>
              </a:rPr>
              <a:t>注意</a:t>
            </a:r>
            <a:r>
              <a:rPr lang="en-US" sz="2900" dirty="0">
                <a:gradFill>
                  <a:gsLst>
                    <a:gs pos="0">
                      <a:srgbClr val="A6A6A6">
                        <a:alpha val="100000"/>
                      </a:srgbClr>
                    </a:gs>
                    <a:gs pos="100000">
                      <a:srgbClr val="FFFFFF">
                        <a:alpha val="100000"/>
                      </a:srgbClr>
                    </a:gs>
                  </a:gsLst>
                  <a:lin ang="0"/>
                </a:gradFill>
                <a:latin typeface="Inter"/>
                <a:ea typeface="Inter"/>
                <a:cs typeface="Inter"/>
                <a:sym typeface="Inter"/>
              </a:rPr>
              <a:t>」「</a:t>
            </a:r>
            <a:r>
              <a:rPr lang="en-US" sz="2900" dirty="0" err="1">
                <a:gradFill>
                  <a:gsLst>
                    <a:gs pos="0">
                      <a:srgbClr val="A6A6A6">
                        <a:alpha val="100000"/>
                      </a:srgbClr>
                    </a:gs>
                    <a:gs pos="100000">
                      <a:srgbClr val="FFFFFF">
                        <a:alpha val="100000"/>
                      </a:srgbClr>
                    </a:gs>
                  </a:gsLst>
                  <a:lin ang="0"/>
                </a:gradFill>
                <a:latin typeface="Inter"/>
                <a:ea typeface="Inter"/>
                <a:cs typeface="Inter"/>
                <a:sym typeface="Inter"/>
              </a:rPr>
              <a:t>高リスク</a:t>
            </a:r>
            <a:r>
              <a:rPr lang="en-US" sz="2900" dirty="0">
                <a:gradFill>
                  <a:gsLst>
                    <a:gs pos="0">
                      <a:srgbClr val="A6A6A6">
                        <a:alpha val="100000"/>
                      </a:srgbClr>
                    </a:gs>
                    <a:gs pos="100000">
                      <a:srgbClr val="FFFFFF">
                        <a:alpha val="100000"/>
                      </a:srgbClr>
                    </a:gs>
                  </a:gsLst>
                  <a:lin ang="0"/>
                </a:gradFill>
                <a:latin typeface="Inter"/>
                <a:ea typeface="Inter"/>
                <a:cs typeface="Inter"/>
                <a:sym typeface="Inter"/>
              </a:rPr>
              <a:t>」「</a:t>
            </a:r>
            <a:r>
              <a:rPr lang="en-US" sz="2900" dirty="0" err="1">
                <a:gradFill>
                  <a:gsLst>
                    <a:gs pos="0">
                      <a:srgbClr val="A6A6A6">
                        <a:alpha val="100000"/>
                      </a:srgbClr>
                    </a:gs>
                    <a:gs pos="100000">
                      <a:srgbClr val="FFFFFF">
                        <a:alpha val="100000"/>
                      </a:srgbClr>
                    </a:gs>
                  </a:gsLst>
                  <a:lin ang="0"/>
                </a:gradFill>
                <a:latin typeface="Inter"/>
                <a:ea typeface="Inter"/>
                <a:cs typeface="Inter"/>
                <a:sym typeface="Inter"/>
              </a:rPr>
              <a:t>危険」の段階的な警告表示と音声通知によってドライバーを支援し、交通事故の防止と安全運転の実現を目指すことです</a:t>
            </a:r>
            <a:r>
              <a:rPr lang="en-US" sz="2900" dirty="0">
                <a:gradFill>
                  <a:gsLst>
                    <a:gs pos="0">
                      <a:srgbClr val="A6A6A6">
                        <a:alpha val="100000"/>
                      </a:srgbClr>
                    </a:gs>
                    <a:gs pos="100000">
                      <a:srgbClr val="FFFFFF">
                        <a:alpha val="100000"/>
                      </a:srgbClr>
                    </a:gs>
                  </a:gsLst>
                  <a:lin ang="0"/>
                </a:gradFill>
                <a:latin typeface="Inter"/>
                <a:ea typeface="Inter"/>
                <a:cs typeface="Inter"/>
                <a:sym typeface="Inter"/>
              </a:rPr>
              <a:t>。</a:t>
            </a:r>
          </a:p>
          <a:p>
            <a:pPr algn="l">
              <a:lnSpc>
                <a:spcPts val="4060"/>
              </a:lnSpc>
            </a:pPr>
            <a:endParaRPr lang="en-US" sz="2900" dirty="0">
              <a:gradFill>
                <a:gsLst>
                  <a:gs pos="0">
                    <a:srgbClr val="A6A6A6">
                      <a:alpha val="100000"/>
                    </a:srgbClr>
                  </a:gs>
                  <a:gs pos="100000">
                    <a:srgbClr val="FFFFFF">
                      <a:alpha val="100000"/>
                    </a:srgbClr>
                  </a:gs>
                </a:gsLst>
                <a:lin ang="0"/>
              </a:gra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3566" y="14211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AutoShape 3"/>
          <p:cNvSpPr/>
          <p:nvPr/>
        </p:nvSpPr>
        <p:spPr>
          <a:xfrm>
            <a:off x="5743797" y="8439636"/>
            <a:ext cx="9751591" cy="4323859"/>
          </a:xfrm>
          <a:prstGeom prst="line">
            <a:avLst/>
          </a:prstGeom>
          <a:ln w="19050" cap="flat">
            <a:solidFill>
              <a:srgbClr val="797979"/>
            </a:solidFill>
            <a:prstDash val="solid"/>
            <a:headEnd type="none" w="sm" len="sm"/>
            <a:tailEnd type="none" w="sm" len="sm"/>
          </a:ln>
        </p:spPr>
        <p:txBody>
          <a:bodyPr/>
          <a:lstStyle/>
          <a:p>
            <a:endParaRPr lang="en-US"/>
          </a:p>
        </p:txBody>
      </p:sp>
      <p:sp>
        <p:nvSpPr>
          <p:cNvPr id="4" name="AutoShape 4"/>
          <p:cNvSpPr/>
          <p:nvPr/>
        </p:nvSpPr>
        <p:spPr>
          <a:xfrm flipV="1">
            <a:off x="9826610" y="3033695"/>
            <a:ext cx="0" cy="7355657"/>
          </a:xfrm>
          <a:prstGeom prst="line">
            <a:avLst/>
          </a:prstGeom>
          <a:ln w="19050" cap="flat">
            <a:solidFill>
              <a:srgbClr val="797979"/>
            </a:solidFill>
            <a:prstDash val="solid"/>
            <a:headEnd type="none" w="sm" len="sm"/>
            <a:tailEnd type="none" w="sm" len="sm"/>
          </a:ln>
        </p:spPr>
        <p:txBody>
          <a:bodyPr/>
          <a:lstStyle/>
          <a:p>
            <a:endParaRPr lang="en-US"/>
          </a:p>
        </p:txBody>
      </p:sp>
      <p:sp>
        <p:nvSpPr>
          <p:cNvPr id="5" name="AutoShape 5"/>
          <p:cNvSpPr/>
          <p:nvPr/>
        </p:nvSpPr>
        <p:spPr>
          <a:xfrm>
            <a:off x="-2900950" y="8350026"/>
            <a:ext cx="12727560" cy="0"/>
          </a:xfrm>
          <a:prstGeom prst="line">
            <a:avLst/>
          </a:prstGeom>
          <a:ln w="19050" cap="flat">
            <a:solidFill>
              <a:srgbClr val="797979"/>
            </a:solidFill>
            <a:prstDash val="solid"/>
            <a:headEnd type="none" w="sm" len="sm"/>
            <a:tailEnd type="none" w="sm" len="sm"/>
          </a:ln>
        </p:spPr>
        <p:txBody>
          <a:bodyPr/>
          <a:lstStyle/>
          <a:p>
            <a:endParaRPr lang="en-US"/>
          </a:p>
        </p:txBody>
      </p:sp>
      <p:sp>
        <p:nvSpPr>
          <p:cNvPr id="6" name="Freeform 6"/>
          <p:cNvSpPr/>
          <p:nvPr/>
        </p:nvSpPr>
        <p:spPr>
          <a:xfrm>
            <a:off x="17581955" y="9468220"/>
            <a:ext cx="1412090" cy="1412090"/>
          </a:xfrm>
          <a:custGeom>
            <a:avLst/>
            <a:gdLst/>
            <a:ahLst/>
            <a:cxnLst/>
            <a:rect l="l" t="t" r="r" b="b"/>
            <a:pathLst>
              <a:path w="1412090" h="1412090">
                <a:moveTo>
                  <a:pt x="0" y="0"/>
                </a:moveTo>
                <a:lnTo>
                  <a:pt x="1412090" y="0"/>
                </a:lnTo>
                <a:lnTo>
                  <a:pt x="1412090" y="1412089"/>
                </a:lnTo>
                <a:lnTo>
                  <a:pt x="0" y="14120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7"/>
          <p:cNvGrpSpPr/>
          <p:nvPr/>
        </p:nvGrpSpPr>
        <p:grpSpPr>
          <a:xfrm>
            <a:off x="296183" y="5228823"/>
            <a:ext cx="5763727" cy="5651487"/>
            <a:chOff x="0" y="0"/>
            <a:chExt cx="6267323" cy="6145276"/>
          </a:xfrm>
        </p:grpSpPr>
        <p:sp>
          <p:nvSpPr>
            <p:cNvPr id="8" name="Freeform 8"/>
            <p:cNvSpPr/>
            <p:nvPr/>
          </p:nvSpPr>
          <p:spPr>
            <a:xfrm>
              <a:off x="0" y="-44"/>
              <a:ext cx="6267334" cy="6145193"/>
            </a:xfrm>
            <a:custGeom>
              <a:avLst/>
              <a:gdLst/>
              <a:ahLst/>
              <a:cxnLst/>
              <a:rect l="l" t="t" r="r" b="b"/>
              <a:pathLst>
                <a:path w="6267334" h="6145193">
                  <a:moveTo>
                    <a:pt x="6064631" y="1265091"/>
                  </a:moveTo>
                  <a:cubicBezTo>
                    <a:pt x="6221603" y="1299254"/>
                    <a:pt x="6305296" y="1450765"/>
                    <a:pt x="6250559" y="1601895"/>
                  </a:cubicBezTo>
                  <a:lnTo>
                    <a:pt x="4703953" y="5870619"/>
                  </a:lnTo>
                  <a:cubicBezTo>
                    <a:pt x="4649216" y="6021622"/>
                    <a:pt x="4473067" y="6145193"/>
                    <a:pt x="4312412" y="6145193"/>
                  </a:cubicBezTo>
                  <a:lnTo>
                    <a:pt x="292100" y="6145193"/>
                  </a:lnTo>
                  <a:cubicBezTo>
                    <a:pt x="131445" y="6145193"/>
                    <a:pt x="0" y="6013748"/>
                    <a:pt x="0" y="5853093"/>
                  </a:cubicBezTo>
                  <a:lnTo>
                    <a:pt x="0" y="236518"/>
                  </a:lnTo>
                  <a:cubicBezTo>
                    <a:pt x="0" y="75863"/>
                    <a:pt x="128397" y="-27642"/>
                    <a:pt x="285369" y="6521"/>
                  </a:cubicBezTo>
                  <a:lnTo>
                    <a:pt x="6064631" y="1265091"/>
                  </a:lnTo>
                  <a:close/>
                </a:path>
              </a:pathLst>
            </a:custGeom>
            <a:blipFill>
              <a:blip r:embed="rId4"/>
              <a:stretch>
                <a:fillRect t="-17991" b="-17991"/>
              </a:stretch>
            </a:blipFill>
            <a:ln w="19050" cap="sq">
              <a:solidFill>
                <a:srgbClr val="FFFFFF"/>
              </a:solidFill>
              <a:prstDash val="solid"/>
              <a:miter/>
            </a:ln>
          </p:spPr>
          <p:txBody>
            <a:bodyPr/>
            <a:lstStyle/>
            <a:p>
              <a:endParaRPr lang="en-US"/>
            </a:p>
          </p:txBody>
        </p:sp>
      </p:grpSp>
      <p:sp>
        <p:nvSpPr>
          <p:cNvPr id="9" name="TextBox 9"/>
          <p:cNvSpPr txBox="1"/>
          <p:nvPr/>
        </p:nvSpPr>
        <p:spPr>
          <a:xfrm>
            <a:off x="10807927" y="743385"/>
            <a:ext cx="6451373" cy="992772"/>
          </a:xfrm>
          <a:prstGeom prst="rect">
            <a:avLst/>
          </a:prstGeom>
        </p:spPr>
        <p:txBody>
          <a:bodyPr lIns="0" tIns="0" rIns="0" bIns="0" rtlCol="0" anchor="t">
            <a:spAutoFit/>
          </a:bodyPr>
          <a:lstStyle/>
          <a:p>
            <a:pPr algn="l">
              <a:lnSpc>
                <a:spcPts val="7621"/>
              </a:lnSpc>
            </a:pPr>
            <a:r>
              <a:rPr lang="en-US" sz="6928">
                <a:solidFill>
                  <a:srgbClr val="3FFFE8"/>
                </a:solidFill>
                <a:latin typeface="HK Modular"/>
                <a:ea typeface="HK Modular"/>
                <a:cs typeface="HK Modular"/>
                <a:sym typeface="HK Modular"/>
              </a:rPr>
              <a:t>機能</a:t>
            </a:r>
          </a:p>
        </p:txBody>
      </p:sp>
      <p:grpSp>
        <p:nvGrpSpPr>
          <p:cNvPr id="10" name="Group 10"/>
          <p:cNvGrpSpPr/>
          <p:nvPr/>
        </p:nvGrpSpPr>
        <p:grpSpPr>
          <a:xfrm>
            <a:off x="11194864" y="1958837"/>
            <a:ext cx="5651256" cy="6558225"/>
            <a:chOff x="0" y="0"/>
            <a:chExt cx="1455853" cy="1523866"/>
          </a:xfrm>
        </p:grpSpPr>
        <p:sp>
          <p:nvSpPr>
            <p:cNvPr id="11" name="Freeform 11"/>
            <p:cNvSpPr/>
            <p:nvPr/>
          </p:nvSpPr>
          <p:spPr>
            <a:xfrm>
              <a:off x="0" y="0"/>
              <a:ext cx="1455853" cy="1523866"/>
            </a:xfrm>
            <a:custGeom>
              <a:avLst/>
              <a:gdLst/>
              <a:ahLst/>
              <a:cxnLst/>
              <a:rect l="l" t="t" r="r" b="b"/>
              <a:pathLst>
                <a:path w="1455853" h="1523866">
                  <a:moveTo>
                    <a:pt x="0" y="0"/>
                  </a:moveTo>
                  <a:lnTo>
                    <a:pt x="1455853" y="0"/>
                  </a:lnTo>
                  <a:lnTo>
                    <a:pt x="1455853" y="1523866"/>
                  </a:lnTo>
                  <a:lnTo>
                    <a:pt x="0" y="1523866"/>
                  </a:lnTo>
                  <a:close/>
                </a:path>
              </a:pathLst>
            </a:custGeom>
            <a:ln w="19050" cap="sq">
              <a:solidFill>
                <a:srgbClr val="797979"/>
              </a:solidFill>
              <a:prstDash val="solid"/>
              <a:miter/>
            </a:ln>
          </p:spPr>
          <p:txBody>
            <a:bodyPr/>
            <a:lstStyle/>
            <a:p>
              <a:endParaRPr lang="en-US"/>
            </a:p>
          </p:txBody>
        </p:sp>
        <p:sp>
          <p:nvSpPr>
            <p:cNvPr id="12" name="TextBox 12"/>
            <p:cNvSpPr txBox="1"/>
            <p:nvPr/>
          </p:nvSpPr>
          <p:spPr>
            <a:xfrm>
              <a:off x="0" y="19050"/>
              <a:ext cx="1455853" cy="1504816"/>
            </a:xfrm>
            <a:prstGeom prst="rect">
              <a:avLst/>
            </a:prstGeom>
          </p:spPr>
          <p:txBody>
            <a:bodyPr lIns="50800" tIns="50800" rIns="50800" bIns="50800" rtlCol="0" anchor="ctr"/>
            <a:lstStyle/>
            <a:p>
              <a:pPr marL="0" lvl="0" indent="0" algn="ctr">
                <a:lnSpc>
                  <a:spcPts val="1566"/>
                </a:lnSpc>
                <a:spcBef>
                  <a:spcPct val="0"/>
                </a:spcBef>
              </a:pPr>
              <a:endParaRPr/>
            </a:p>
          </p:txBody>
        </p:sp>
      </p:grpSp>
      <p:grpSp>
        <p:nvGrpSpPr>
          <p:cNvPr id="13" name="Group 13"/>
          <p:cNvGrpSpPr/>
          <p:nvPr/>
        </p:nvGrpSpPr>
        <p:grpSpPr>
          <a:xfrm rot="16200000">
            <a:off x="16289360" y="7855196"/>
            <a:ext cx="365059" cy="381284"/>
            <a:chOff x="0" y="0"/>
            <a:chExt cx="571500" cy="596900"/>
          </a:xfrm>
        </p:grpSpPr>
        <p:sp>
          <p:nvSpPr>
            <p:cNvPr id="14" name="Freeform 14"/>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FFFFFF"/>
            </a:solidFill>
          </p:spPr>
          <p:txBody>
            <a:bodyPr/>
            <a:lstStyle/>
            <a:p>
              <a:endParaRPr lang="en-US"/>
            </a:p>
          </p:txBody>
        </p:sp>
        <p:sp>
          <p:nvSpPr>
            <p:cNvPr id="15" name="TextBox 15"/>
            <p:cNvSpPr txBox="1"/>
            <p:nvPr/>
          </p:nvSpPr>
          <p:spPr>
            <a:xfrm>
              <a:off x="0" y="317500"/>
              <a:ext cx="285750" cy="278130"/>
            </a:xfrm>
            <a:prstGeom prst="rect">
              <a:avLst/>
            </a:prstGeom>
          </p:spPr>
          <p:txBody>
            <a:bodyPr lIns="50800" tIns="50800" rIns="50800" bIns="50800" rtlCol="0" anchor="ctr"/>
            <a:lstStyle/>
            <a:p>
              <a:pPr algn="ctr">
                <a:lnSpc>
                  <a:spcPts val="1980"/>
                </a:lnSpc>
              </a:pPr>
              <a:endParaRPr/>
            </a:p>
          </p:txBody>
        </p:sp>
      </p:grpSp>
      <p:grpSp>
        <p:nvGrpSpPr>
          <p:cNvPr id="16" name="Group 16"/>
          <p:cNvGrpSpPr/>
          <p:nvPr/>
        </p:nvGrpSpPr>
        <p:grpSpPr>
          <a:xfrm rot="5400000">
            <a:off x="11459609" y="2199376"/>
            <a:ext cx="341702" cy="356888"/>
            <a:chOff x="0" y="0"/>
            <a:chExt cx="571500" cy="596900"/>
          </a:xfrm>
        </p:grpSpPr>
        <p:sp>
          <p:nvSpPr>
            <p:cNvPr id="17" name="Freeform 17"/>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FFFFFF"/>
            </a:solidFill>
          </p:spPr>
          <p:txBody>
            <a:bodyPr/>
            <a:lstStyle/>
            <a:p>
              <a:endParaRPr lang="en-US"/>
            </a:p>
          </p:txBody>
        </p:sp>
        <p:sp>
          <p:nvSpPr>
            <p:cNvPr id="18" name="TextBox 18"/>
            <p:cNvSpPr txBox="1"/>
            <p:nvPr/>
          </p:nvSpPr>
          <p:spPr>
            <a:xfrm>
              <a:off x="0" y="317500"/>
              <a:ext cx="285750" cy="278130"/>
            </a:xfrm>
            <a:prstGeom prst="rect">
              <a:avLst/>
            </a:prstGeom>
          </p:spPr>
          <p:txBody>
            <a:bodyPr lIns="50800" tIns="50800" rIns="50800" bIns="50800" rtlCol="0" anchor="ctr"/>
            <a:lstStyle/>
            <a:p>
              <a:pPr algn="ctr">
                <a:lnSpc>
                  <a:spcPts val="1980"/>
                </a:lnSpc>
              </a:pPr>
              <a:endParaRPr/>
            </a:p>
          </p:txBody>
        </p:sp>
      </p:grpSp>
      <p:grpSp>
        <p:nvGrpSpPr>
          <p:cNvPr id="19" name="Group 19"/>
          <p:cNvGrpSpPr/>
          <p:nvPr/>
        </p:nvGrpSpPr>
        <p:grpSpPr>
          <a:xfrm>
            <a:off x="-5366173" y="7112828"/>
            <a:ext cx="11012476" cy="3909944"/>
            <a:chOff x="0" y="0"/>
            <a:chExt cx="2900405" cy="1029780"/>
          </a:xfrm>
        </p:grpSpPr>
        <p:sp>
          <p:nvSpPr>
            <p:cNvPr id="20" name="Freeform 20"/>
            <p:cNvSpPr/>
            <p:nvPr/>
          </p:nvSpPr>
          <p:spPr>
            <a:xfrm>
              <a:off x="0" y="0"/>
              <a:ext cx="2900405" cy="1029779"/>
            </a:xfrm>
            <a:custGeom>
              <a:avLst/>
              <a:gdLst/>
              <a:ahLst/>
              <a:cxnLst/>
              <a:rect l="l" t="t" r="r" b="b"/>
              <a:pathLst>
                <a:path w="2900405" h="1029779">
                  <a:moveTo>
                    <a:pt x="0" y="0"/>
                  </a:moveTo>
                  <a:lnTo>
                    <a:pt x="2900405" y="0"/>
                  </a:lnTo>
                  <a:lnTo>
                    <a:pt x="2900405" y="1029779"/>
                  </a:lnTo>
                  <a:lnTo>
                    <a:pt x="0" y="1029779"/>
                  </a:lnTo>
                  <a:close/>
                </a:path>
              </a:pathLst>
            </a:custGeom>
            <a:ln w="19050" cap="sq">
              <a:solidFill>
                <a:srgbClr val="797979"/>
              </a:solidFill>
              <a:prstDash val="solid"/>
              <a:miter/>
            </a:ln>
          </p:spPr>
          <p:txBody>
            <a:bodyPr/>
            <a:lstStyle/>
            <a:p>
              <a:endParaRPr lang="en-US"/>
            </a:p>
          </p:txBody>
        </p:sp>
        <p:sp>
          <p:nvSpPr>
            <p:cNvPr id="21" name="TextBox 21"/>
            <p:cNvSpPr txBox="1"/>
            <p:nvPr/>
          </p:nvSpPr>
          <p:spPr>
            <a:xfrm>
              <a:off x="0" y="19050"/>
              <a:ext cx="2900405" cy="1010730"/>
            </a:xfrm>
            <a:prstGeom prst="rect">
              <a:avLst/>
            </a:prstGeom>
          </p:spPr>
          <p:txBody>
            <a:bodyPr lIns="50800" tIns="50800" rIns="50800" bIns="50800" rtlCol="0" anchor="ctr"/>
            <a:lstStyle/>
            <a:p>
              <a:pPr marL="0" lvl="0" indent="0" algn="ctr">
                <a:lnSpc>
                  <a:spcPts val="1566"/>
                </a:lnSpc>
                <a:spcBef>
                  <a:spcPct val="0"/>
                </a:spcBef>
              </a:pPr>
              <a:endParaRPr/>
            </a:p>
          </p:txBody>
        </p:sp>
      </p:grpSp>
      <p:grpSp>
        <p:nvGrpSpPr>
          <p:cNvPr id="22" name="Group 22"/>
          <p:cNvGrpSpPr/>
          <p:nvPr/>
        </p:nvGrpSpPr>
        <p:grpSpPr>
          <a:xfrm rot="-5400000">
            <a:off x="6980219" y="4825137"/>
            <a:ext cx="249543" cy="260634"/>
            <a:chOff x="0" y="0"/>
            <a:chExt cx="571500" cy="596900"/>
          </a:xfrm>
        </p:grpSpPr>
        <p:sp>
          <p:nvSpPr>
            <p:cNvPr id="23" name="Freeform 2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FFFFFF"/>
            </a:solidFill>
          </p:spPr>
          <p:txBody>
            <a:bodyPr/>
            <a:lstStyle/>
            <a:p>
              <a:endParaRPr lang="en-US"/>
            </a:p>
          </p:txBody>
        </p:sp>
        <p:sp>
          <p:nvSpPr>
            <p:cNvPr id="24" name="TextBox 24"/>
            <p:cNvSpPr txBox="1"/>
            <p:nvPr/>
          </p:nvSpPr>
          <p:spPr>
            <a:xfrm>
              <a:off x="0" y="317500"/>
              <a:ext cx="285750" cy="278130"/>
            </a:xfrm>
            <a:prstGeom prst="rect">
              <a:avLst/>
            </a:prstGeom>
          </p:spPr>
          <p:txBody>
            <a:bodyPr lIns="50800" tIns="50800" rIns="50800" bIns="50800" rtlCol="0" anchor="ctr"/>
            <a:lstStyle/>
            <a:p>
              <a:pPr algn="ctr">
                <a:lnSpc>
                  <a:spcPts val="1980"/>
                </a:lnSpc>
              </a:pPr>
              <a:endParaRPr/>
            </a:p>
          </p:txBody>
        </p:sp>
      </p:grpSp>
      <p:sp>
        <p:nvSpPr>
          <p:cNvPr id="25" name="Freeform 25"/>
          <p:cNvSpPr/>
          <p:nvPr/>
        </p:nvSpPr>
        <p:spPr>
          <a:xfrm>
            <a:off x="16662531" y="989433"/>
            <a:ext cx="596769" cy="596769"/>
          </a:xfrm>
          <a:custGeom>
            <a:avLst/>
            <a:gdLst/>
            <a:ahLst/>
            <a:cxnLst/>
            <a:rect l="l" t="t" r="r" b="b"/>
            <a:pathLst>
              <a:path w="596769" h="596769">
                <a:moveTo>
                  <a:pt x="0" y="0"/>
                </a:moveTo>
                <a:lnTo>
                  <a:pt x="596769" y="0"/>
                </a:lnTo>
                <a:lnTo>
                  <a:pt x="596769" y="596769"/>
                </a:lnTo>
                <a:lnTo>
                  <a:pt x="0" y="5967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6" name="Group 26"/>
          <p:cNvGrpSpPr/>
          <p:nvPr/>
        </p:nvGrpSpPr>
        <p:grpSpPr>
          <a:xfrm>
            <a:off x="7479781" y="6289596"/>
            <a:ext cx="1152588" cy="306619"/>
            <a:chOff x="0" y="0"/>
            <a:chExt cx="303562" cy="80756"/>
          </a:xfrm>
        </p:grpSpPr>
        <p:sp>
          <p:nvSpPr>
            <p:cNvPr id="27" name="Freeform 27"/>
            <p:cNvSpPr/>
            <p:nvPr/>
          </p:nvSpPr>
          <p:spPr>
            <a:xfrm>
              <a:off x="0" y="0"/>
              <a:ext cx="303562" cy="80756"/>
            </a:xfrm>
            <a:custGeom>
              <a:avLst/>
              <a:gdLst/>
              <a:ahLst/>
              <a:cxnLst/>
              <a:rect l="l" t="t" r="r" b="b"/>
              <a:pathLst>
                <a:path w="303562" h="80756">
                  <a:moveTo>
                    <a:pt x="0" y="0"/>
                  </a:moveTo>
                  <a:lnTo>
                    <a:pt x="303562" y="0"/>
                  </a:lnTo>
                  <a:lnTo>
                    <a:pt x="303562" y="80756"/>
                  </a:lnTo>
                  <a:lnTo>
                    <a:pt x="0" y="80756"/>
                  </a:lnTo>
                  <a:close/>
                </a:path>
              </a:pathLst>
            </a:custGeom>
            <a:gradFill rotWithShape="1">
              <a:gsLst>
                <a:gs pos="0">
                  <a:srgbClr val="FFFFFF">
                    <a:alpha val="100000"/>
                  </a:srgbClr>
                </a:gs>
                <a:gs pos="100000">
                  <a:srgbClr val="050520">
                    <a:alpha val="0"/>
                  </a:srgbClr>
                </a:gs>
              </a:gsLst>
              <a:lin ang="0"/>
            </a:gradFill>
          </p:spPr>
          <p:txBody>
            <a:bodyPr/>
            <a:lstStyle/>
            <a:p>
              <a:endParaRPr lang="en-US"/>
            </a:p>
          </p:txBody>
        </p:sp>
        <p:sp>
          <p:nvSpPr>
            <p:cNvPr id="28" name="TextBox 28"/>
            <p:cNvSpPr txBox="1"/>
            <p:nvPr/>
          </p:nvSpPr>
          <p:spPr>
            <a:xfrm>
              <a:off x="0" y="19050"/>
              <a:ext cx="303562" cy="61706"/>
            </a:xfrm>
            <a:prstGeom prst="rect">
              <a:avLst/>
            </a:prstGeom>
          </p:spPr>
          <p:txBody>
            <a:bodyPr lIns="50800" tIns="50800" rIns="50800" bIns="50800" rtlCol="0" anchor="ctr"/>
            <a:lstStyle/>
            <a:p>
              <a:pPr algn="ctr">
                <a:lnSpc>
                  <a:spcPts val="1980"/>
                </a:lnSpc>
              </a:pPr>
              <a:endParaRPr/>
            </a:p>
          </p:txBody>
        </p:sp>
      </p:grpSp>
      <p:grpSp>
        <p:nvGrpSpPr>
          <p:cNvPr id="29" name="Group 29"/>
          <p:cNvGrpSpPr/>
          <p:nvPr/>
        </p:nvGrpSpPr>
        <p:grpSpPr>
          <a:xfrm>
            <a:off x="1563528" y="1743222"/>
            <a:ext cx="5671780" cy="3346589"/>
            <a:chOff x="0" y="0"/>
            <a:chExt cx="1493802" cy="881406"/>
          </a:xfrm>
        </p:grpSpPr>
        <p:sp>
          <p:nvSpPr>
            <p:cNvPr id="30" name="Freeform 30"/>
            <p:cNvSpPr/>
            <p:nvPr/>
          </p:nvSpPr>
          <p:spPr>
            <a:xfrm>
              <a:off x="0" y="0"/>
              <a:ext cx="1493802" cy="881406"/>
            </a:xfrm>
            <a:custGeom>
              <a:avLst/>
              <a:gdLst/>
              <a:ahLst/>
              <a:cxnLst/>
              <a:rect l="l" t="t" r="r" b="b"/>
              <a:pathLst>
                <a:path w="1493802" h="881406">
                  <a:moveTo>
                    <a:pt x="0" y="0"/>
                  </a:moveTo>
                  <a:lnTo>
                    <a:pt x="1493802" y="0"/>
                  </a:lnTo>
                  <a:lnTo>
                    <a:pt x="1493802" y="881406"/>
                  </a:lnTo>
                  <a:lnTo>
                    <a:pt x="0" y="881406"/>
                  </a:lnTo>
                  <a:close/>
                </a:path>
              </a:pathLst>
            </a:custGeom>
            <a:ln w="19050" cap="sq">
              <a:solidFill>
                <a:srgbClr val="797979"/>
              </a:solidFill>
              <a:prstDash val="solid"/>
              <a:miter/>
            </a:ln>
          </p:spPr>
          <p:txBody>
            <a:bodyPr/>
            <a:lstStyle/>
            <a:p>
              <a:endParaRPr lang="en-US"/>
            </a:p>
          </p:txBody>
        </p:sp>
        <p:sp>
          <p:nvSpPr>
            <p:cNvPr id="31" name="TextBox 31"/>
            <p:cNvSpPr txBox="1"/>
            <p:nvPr/>
          </p:nvSpPr>
          <p:spPr>
            <a:xfrm>
              <a:off x="0" y="19050"/>
              <a:ext cx="1493802" cy="862356"/>
            </a:xfrm>
            <a:prstGeom prst="rect">
              <a:avLst/>
            </a:prstGeom>
          </p:spPr>
          <p:txBody>
            <a:bodyPr lIns="50800" tIns="50800" rIns="50800" bIns="50800" rtlCol="0" anchor="ctr"/>
            <a:lstStyle/>
            <a:p>
              <a:pPr marL="0" lvl="0" indent="0" algn="ctr">
                <a:lnSpc>
                  <a:spcPts val="1566"/>
                </a:lnSpc>
                <a:spcBef>
                  <a:spcPct val="0"/>
                </a:spcBef>
              </a:pPr>
              <a:endParaRPr/>
            </a:p>
          </p:txBody>
        </p:sp>
      </p:grpSp>
      <p:sp>
        <p:nvSpPr>
          <p:cNvPr id="32" name="Freeform 32"/>
          <p:cNvSpPr/>
          <p:nvPr/>
        </p:nvSpPr>
        <p:spPr>
          <a:xfrm>
            <a:off x="2638459" y="2571792"/>
            <a:ext cx="406475" cy="461903"/>
          </a:xfrm>
          <a:custGeom>
            <a:avLst/>
            <a:gdLst/>
            <a:ahLst/>
            <a:cxnLst/>
            <a:rect l="l" t="t" r="r" b="b"/>
            <a:pathLst>
              <a:path w="406475" h="461903">
                <a:moveTo>
                  <a:pt x="0" y="0"/>
                </a:moveTo>
                <a:lnTo>
                  <a:pt x="406475" y="0"/>
                </a:lnTo>
                <a:lnTo>
                  <a:pt x="406475" y="461903"/>
                </a:lnTo>
                <a:lnTo>
                  <a:pt x="0" y="46190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3" name="TextBox 33"/>
          <p:cNvSpPr txBox="1"/>
          <p:nvPr/>
        </p:nvSpPr>
        <p:spPr>
          <a:xfrm>
            <a:off x="1028700" y="554538"/>
            <a:ext cx="14058900" cy="840936"/>
          </a:xfrm>
          <a:prstGeom prst="rect">
            <a:avLst/>
          </a:prstGeom>
        </p:spPr>
        <p:txBody>
          <a:bodyPr wrap="square" lIns="0" tIns="0" rIns="0" bIns="0" rtlCol="0" anchor="t">
            <a:spAutoFit/>
          </a:bodyPr>
          <a:lstStyle/>
          <a:p>
            <a:pPr algn="l">
              <a:lnSpc>
                <a:spcPts val="7621"/>
              </a:lnSpc>
            </a:pPr>
            <a:r>
              <a:rPr lang="en-US" sz="4400" dirty="0" err="1">
                <a:solidFill>
                  <a:srgbClr val="FFFFFF"/>
                </a:solidFill>
                <a:latin typeface="HK Modular"/>
                <a:ea typeface="HK Modular"/>
                <a:cs typeface="HK Modular"/>
                <a:sym typeface="HK Modular"/>
              </a:rPr>
              <a:t>システム構成・入力データ</a:t>
            </a:r>
            <a:endParaRPr lang="en-US" sz="4400" dirty="0">
              <a:solidFill>
                <a:srgbClr val="FFFFFF"/>
              </a:solidFill>
              <a:latin typeface="HK Modular"/>
              <a:ea typeface="HK Modular"/>
              <a:cs typeface="HK Modular"/>
              <a:sym typeface="HK Modular"/>
            </a:endParaRPr>
          </a:p>
        </p:txBody>
      </p:sp>
      <p:sp>
        <p:nvSpPr>
          <p:cNvPr id="34" name="TextBox 34"/>
          <p:cNvSpPr txBox="1"/>
          <p:nvPr/>
        </p:nvSpPr>
        <p:spPr>
          <a:xfrm>
            <a:off x="12245921" y="2909527"/>
            <a:ext cx="3544556" cy="506990"/>
          </a:xfrm>
          <a:prstGeom prst="rect">
            <a:avLst/>
          </a:prstGeom>
        </p:spPr>
        <p:txBody>
          <a:bodyPr lIns="0" tIns="0" rIns="0" bIns="0" rtlCol="0" anchor="t">
            <a:spAutoFit/>
          </a:bodyPr>
          <a:lstStyle/>
          <a:p>
            <a:pPr algn="l">
              <a:lnSpc>
                <a:spcPts val="2020"/>
              </a:lnSpc>
            </a:pPr>
            <a:r>
              <a:rPr lang="en-US" sz="1554">
                <a:solidFill>
                  <a:srgbClr val="FFFFFF"/>
                </a:solidFill>
                <a:latin typeface="DM Sans"/>
                <a:ea typeface="DM Sans"/>
                <a:cs typeface="DM Sans"/>
                <a:sym typeface="DM Sans"/>
              </a:rPr>
              <a:t>速度・急加速・急減速のデータをリアルタイムで収集・解析する。</a:t>
            </a:r>
          </a:p>
        </p:txBody>
      </p:sp>
      <p:sp>
        <p:nvSpPr>
          <p:cNvPr id="35" name="TextBox 35"/>
          <p:cNvSpPr txBox="1"/>
          <p:nvPr/>
        </p:nvSpPr>
        <p:spPr>
          <a:xfrm>
            <a:off x="12245921" y="3850954"/>
            <a:ext cx="3544556" cy="506990"/>
          </a:xfrm>
          <a:prstGeom prst="rect">
            <a:avLst/>
          </a:prstGeom>
        </p:spPr>
        <p:txBody>
          <a:bodyPr lIns="0" tIns="0" rIns="0" bIns="0" rtlCol="0" anchor="t">
            <a:spAutoFit/>
          </a:bodyPr>
          <a:lstStyle/>
          <a:p>
            <a:pPr algn="l">
              <a:lnSpc>
                <a:spcPts val="2020"/>
              </a:lnSpc>
            </a:pPr>
            <a:r>
              <a:rPr lang="en-US" sz="1554">
                <a:solidFill>
                  <a:srgbClr val="FFFFFF"/>
                </a:solidFill>
                <a:latin typeface="DM Sans"/>
                <a:ea typeface="DM Sans"/>
                <a:cs typeface="DM Sans"/>
                <a:sym typeface="DM Sans"/>
              </a:rPr>
              <a:t>ジャイロセンサーで車体のブレや傾きを検知し危険度を判定する。</a:t>
            </a:r>
          </a:p>
        </p:txBody>
      </p:sp>
      <p:sp>
        <p:nvSpPr>
          <p:cNvPr id="36" name="TextBox 36"/>
          <p:cNvSpPr txBox="1"/>
          <p:nvPr/>
        </p:nvSpPr>
        <p:spPr>
          <a:xfrm>
            <a:off x="11985287" y="2564192"/>
            <a:ext cx="3278528" cy="238552"/>
          </a:xfrm>
          <a:prstGeom prst="rect">
            <a:avLst/>
          </a:prstGeom>
        </p:spPr>
        <p:txBody>
          <a:bodyPr lIns="0" tIns="0" rIns="0" bIns="0" rtlCol="0" anchor="t">
            <a:spAutoFit/>
          </a:bodyPr>
          <a:lstStyle/>
          <a:p>
            <a:pPr marL="328365" lvl="1" indent="-164182" algn="l">
              <a:lnSpc>
                <a:spcPts val="1977"/>
              </a:lnSpc>
              <a:buFont typeface="Arial"/>
              <a:buChar char="•"/>
            </a:pPr>
            <a:r>
              <a:rPr lang="en-US" sz="1520" b="1">
                <a:solidFill>
                  <a:srgbClr val="3FFFE8"/>
                </a:solidFill>
                <a:latin typeface="DM Sans Bold"/>
                <a:ea typeface="DM Sans Bold"/>
                <a:cs typeface="DM Sans Bold"/>
                <a:sym typeface="DM Sans Bold"/>
              </a:rPr>
              <a:t>速度・加速度センサー</a:t>
            </a:r>
          </a:p>
        </p:txBody>
      </p:sp>
      <p:sp>
        <p:nvSpPr>
          <p:cNvPr id="37" name="TextBox 37"/>
          <p:cNvSpPr txBox="1"/>
          <p:nvPr/>
        </p:nvSpPr>
        <p:spPr>
          <a:xfrm>
            <a:off x="11985287" y="3534300"/>
            <a:ext cx="3454912" cy="260399"/>
          </a:xfrm>
          <a:prstGeom prst="rect">
            <a:avLst/>
          </a:prstGeom>
        </p:spPr>
        <p:txBody>
          <a:bodyPr lIns="0" tIns="0" rIns="0" bIns="0" rtlCol="0" anchor="t">
            <a:spAutoFit/>
          </a:bodyPr>
          <a:lstStyle/>
          <a:p>
            <a:pPr marL="346031" lvl="1" indent="-173015" algn="l">
              <a:lnSpc>
                <a:spcPts val="2083"/>
              </a:lnSpc>
              <a:buFont typeface="Arial"/>
              <a:buChar char="•"/>
            </a:pPr>
            <a:r>
              <a:rPr lang="en-US" sz="1602" b="1">
                <a:solidFill>
                  <a:srgbClr val="3FFFE8"/>
                </a:solidFill>
                <a:latin typeface="DM Sans Bold"/>
                <a:ea typeface="DM Sans Bold"/>
                <a:cs typeface="DM Sans Bold"/>
                <a:sym typeface="DM Sans Bold"/>
              </a:rPr>
              <a:t>ジャイロセンサー</a:t>
            </a:r>
          </a:p>
        </p:txBody>
      </p:sp>
      <p:sp>
        <p:nvSpPr>
          <p:cNvPr id="38" name="TextBox 38"/>
          <p:cNvSpPr txBox="1"/>
          <p:nvPr/>
        </p:nvSpPr>
        <p:spPr>
          <a:xfrm>
            <a:off x="12245921" y="4844094"/>
            <a:ext cx="3544556" cy="506990"/>
          </a:xfrm>
          <a:prstGeom prst="rect">
            <a:avLst/>
          </a:prstGeom>
        </p:spPr>
        <p:txBody>
          <a:bodyPr lIns="0" tIns="0" rIns="0" bIns="0" rtlCol="0" anchor="t">
            <a:spAutoFit/>
          </a:bodyPr>
          <a:lstStyle/>
          <a:p>
            <a:pPr algn="l">
              <a:lnSpc>
                <a:spcPts val="2020"/>
              </a:lnSpc>
            </a:pPr>
            <a:r>
              <a:rPr lang="en-US" sz="1554">
                <a:solidFill>
                  <a:srgbClr val="FFFFFF"/>
                </a:solidFill>
                <a:latin typeface="DM Sans"/>
                <a:ea typeface="DM Sans"/>
                <a:cs typeface="DM Sans"/>
                <a:sym typeface="DM Sans"/>
              </a:rPr>
              <a:t>カメラや近接センサーで周辺状況を把握し総合判定に反映する。</a:t>
            </a:r>
          </a:p>
        </p:txBody>
      </p:sp>
      <p:sp>
        <p:nvSpPr>
          <p:cNvPr id="39" name="TextBox 39"/>
          <p:cNvSpPr txBox="1"/>
          <p:nvPr/>
        </p:nvSpPr>
        <p:spPr>
          <a:xfrm>
            <a:off x="11985287" y="4519868"/>
            <a:ext cx="3278528" cy="238552"/>
          </a:xfrm>
          <a:prstGeom prst="rect">
            <a:avLst/>
          </a:prstGeom>
        </p:spPr>
        <p:txBody>
          <a:bodyPr lIns="0" tIns="0" rIns="0" bIns="0" rtlCol="0" anchor="t">
            <a:spAutoFit/>
          </a:bodyPr>
          <a:lstStyle/>
          <a:p>
            <a:pPr marL="328365" lvl="1" indent="-164182" algn="l">
              <a:lnSpc>
                <a:spcPts val="1977"/>
              </a:lnSpc>
              <a:buFont typeface="Arial"/>
              <a:buChar char="•"/>
            </a:pPr>
            <a:r>
              <a:rPr lang="en-US" sz="1520" b="1">
                <a:solidFill>
                  <a:srgbClr val="3FFFE8"/>
                </a:solidFill>
                <a:latin typeface="DM Sans Bold"/>
                <a:ea typeface="DM Sans Bold"/>
                <a:cs typeface="DM Sans Bold"/>
                <a:sym typeface="DM Sans Bold"/>
              </a:rPr>
              <a:t>周辺状況センサー</a:t>
            </a:r>
          </a:p>
        </p:txBody>
      </p:sp>
      <p:sp>
        <p:nvSpPr>
          <p:cNvPr id="40" name="TextBox 40"/>
          <p:cNvSpPr txBox="1"/>
          <p:nvPr/>
        </p:nvSpPr>
        <p:spPr>
          <a:xfrm>
            <a:off x="12245921" y="5814850"/>
            <a:ext cx="3544556" cy="253148"/>
          </a:xfrm>
          <a:prstGeom prst="rect">
            <a:avLst/>
          </a:prstGeom>
        </p:spPr>
        <p:txBody>
          <a:bodyPr lIns="0" tIns="0" rIns="0" bIns="0" rtlCol="0" anchor="t">
            <a:spAutoFit/>
          </a:bodyPr>
          <a:lstStyle/>
          <a:p>
            <a:pPr algn="l">
              <a:lnSpc>
                <a:spcPts val="2020"/>
              </a:lnSpc>
            </a:pPr>
            <a:r>
              <a:rPr lang="en-US" sz="1554">
                <a:solidFill>
                  <a:srgbClr val="FFFFFF"/>
                </a:solidFill>
                <a:latin typeface="DM Sans"/>
                <a:ea typeface="DM Sans"/>
                <a:cs typeface="DM Sans"/>
                <a:sym typeface="DM Sans"/>
              </a:rPr>
              <a:t>AIが全データを統合し「注意」「高リスク」「危険」を段階判定する。</a:t>
            </a:r>
          </a:p>
        </p:txBody>
      </p:sp>
      <p:sp>
        <p:nvSpPr>
          <p:cNvPr id="41" name="TextBox 41"/>
          <p:cNvSpPr txBox="1"/>
          <p:nvPr/>
        </p:nvSpPr>
        <p:spPr>
          <a:xfrm>
            <a:off x="11985287" y="5494801"/>
            <a:ext cx="3278528" cy="238552"/>
          </a:xfrm>
          <a:prstGeom prst="rect">
            <a:avLst/>
          </a:prstGeom>
        </p:spPr>
        <p:txBody>
          <a:bodyPr lIns="0" tIns="0" rIns="0" bIns="0" rtlCol="0" anchor="t">
            <a:spAutoFit/>
          </a:bodyPr>
          <a:lstStyle/>
          <a:p>
            <a:pPr marL="328365" lvl="1" indent="-164182" algn="l">
              <a:lnSpc>
                <a:spcPts val="1977"/>
              </a:lnSpc>
              <a:buFont typeface="Arial"/>
              <a:buChar char="•"/>
            </a:pPr>
            <a:r>
              <a:rPr lang="en-US" sz="1520" b="1">
                <a:solidFill>
                  <a:srgbClr val="3FFFE8"/>
                </a:solidFill>
                <a:latin typeface="DM Sans Bold"/>
                <a:ea typeface="DM Sans Bold"/>
                <a:cs typeface="DM Sans Bold"/>
                <a:sym typeface="DM Sans Bold"/>
              </a:rPr>
              <a:t>AI危険判定エンジン</a:t>
            </a:r>
          </a:p>
        </p:txBody>
      </p:sp>
      <p:sp>
        <p:nvSpPr>
          <p:cNvPr id="42" name="TextBox 42"/>
          <p:cNvSpPr txBox="1"/>
          <p:nvPr/>
        </p:nvSpPr>
        <p:spPr>
          <a:xfrm>
            <a:off x="1915163" y="1920832"/>
            <a:ext cx="2737179" cy="503474"/>
          </a:xfrm>
          <a:prstGeom prst="rect">
            <a:avLst/>
          </a:prstGeom>
        </p:spPr>
        <p:txBody>
          <a:bodyPr wrap="square" lIns="0" tIns="0" rIns="0" bIns="0" rtlCol="0" anchor="t">
            <a:spAutoFit/>
          </a:bodyPr>
          <a:lstStyle/>
          <a:p>
            <a:pPr algn="l">
              <a:lnSpc>
                <a:spcPts val="4038"/>
              </a:lnSpc>
            </a:pPr>
            <a:r>
              <a:rPr lang="en-US" sz="3106" b="1" dirty="0" err="1">
                <a:solidFill>
                  <a:srgbClr val="EEF2F7"/>
                </a:solidFill>
                <a:latin typeface="DM Sans Bold"/>
                <a:ea typeface="DM Sans Bold"/>
                <a:cs typeface="DM Sans Bold"/>
                <a:sym typeface="DM Sans Bold"/>
              </a:rPr>
              <a:t>センサー入力</a:t>
            </a:r>
            <a:endParaRPr lang="en-US" sz="3106" b="1" dirty="0">
              <a:solidFill>
                <a:srgbClr val="EEF2F7"/>
              </a:solidFill>
              <a:latin typeface="DM Sans Bold"/>
              <a:ea typeface="DM Sans Bold"/>
              <a:cs typeface="DM Sans Bold"/>
              <a:sym typeface="DM Sans Bold"/>
            </a:endParaRPr>
          </a:p>
        </p:txBody>
      </p:sp>
      <p:sp>
        <p:nvSpPr>
          <p:cNvPr id="43" name="TextBox 43"/>
          <p:cNvSpPr txBox="1"/>
          <p:nvPr/>
        </p:nvSpPr>
        <p:spPr>
          <a:xfrm>
            <a:off x="2302180" y="3215305"/>
            <a:ext cx="1751228" cy="503474"/>
          </a:xfrm>
          <a:prstGeom prst="rect">
            <a:avLst/>
          </a:prstGeom>
        </p:spPr>
        <p:txBody>
          <a:bodyPr lIns="0" tIns="0" rIns="0" bIns="0" rtlCol="0" anchor="t">
            <a:spAutoFit/>
          </a:bodyPr>
          <a:lstStyle/>
          <a:p>
            <a:pPr algn="l">
              <a:lnSpc>
                <a:spcPts val="4038"/>
              </a:lnSpc>
            </a:pPr>
            <a:r>
              <a:rPr lang="en-US" sz="3106" b="1" dirty="0" err="1">
                <a:solidFill>
                  <a:srgbClr val="EEF2F7"/>
                </a:solidFill>
                <a:latin typeface="DM Sans Bold"/>
                <a:ea typeface="DM Sans Bold"/>
                <a:cs typeface="DM Sans Bold"/>
                <a:sym typeface="DM Sans Bold"/>
              </a:rPr>
              <a:t>AI解析</a:t>
            </a:r>
            <a:endParaRPr lang="en-US" sz="3106" b="1" dirty="0">
              <a:solidFill>
                <a:srgbClr val="EEF2F7"/>
              </a:solidFill>
              <a:latin typeface="DM Sans Bold"/>
              <a:ea typeface="DM Sans Bold"/>
              <a:cs typeface="DM Sans Bold"/>
              <a:sym typeface="DM Sans Bold"/>
            </a:endParaRPr>
          </a:p>
        </p:txBody>
      </p:sp>
      <p:sp>
        <p:nvSpPr>
          <p:cNvPr id="44" name="TextBox 44"/>
          <p:cNvSpPr txBox="1"/>
          <p:nvPr/>
        </p:nvSpPr>
        <p:spPr>
          <a:xfrm>
            <a:off x="1685526" y="4319843"/>
            <a:ext cx="2200287" cy="503474"/>
          </a:xfrm>
          <a:prstGeom prst="rect">
            <a:avLst/>
          </a:prstGeom>
        </p:spPr>
        <p:txBody>
          <a:bodyPr wrap="square" lIns="0" tIns="0" rIns="0" bIns="0" rtlCol="0" anchor="t">
            <a:spAutoFit/>
          </a:bodyPr>
          <a:lstStyle/>
          <a:p>
            <a:pPr algn="l">
              <a:lnSpc>
                <a:spcPts val="4038"/>
              </a:lnSpc>
            </a:pPr>
            <a:r>
              <a:rPr lang="en-US" sz="3106" b="1" dirty="0" err="1">
                <a:solidFill>
                  <a:srgbClr val="EEF2F7"/>
                </a:solidFill>
                <a:latin typeface="DM Sans Bold"/>
                <a:ea typeface="DM Sans Bold"/>
                <a:cs typeface="DM Sans Bold"/>
                <a:sym typeface="DM Sans Bold"/>
              </a:rPr>
              <a:t>危険度判定</a:t>
            </a:r>
            <a:endParaRPr lang="en-US" sz="3106" b="1" dirty="0">
              <a:solidFill>
                <a:srgbClr val="EEF2F7"/>
              </a:solidFill>
              <a:latin typeface="DM Sans Bold"/>
              <a:ea typeface="DM Sans Bold"/>
              <a:cs typeface="DM Sans Bold"/>
              <a:sym typeface="DM Sans Bold"/>
            </a:endParaRPr>
          </a:p>
        </p:txBody>
      </p:sp>
      <p:sp>
        <p:nvSpPr>
          <p:cNvPr id="45" name="Freeform 45"/>
          <p:cNvSpPr/>
          <p:nvPr/>
        </p:nvSpPr>
        <p:spPr>
          <a:xfrm>
            <a:off x="2638459" y="3710454"/>
            <a:ext cx="406475" cy="461903"/>
          </a:xfrm>
          <a:custGeom>
            <a:avLst/>
            <a:gdLst/>
            <a:ahLst/>
            <a:cxnLst/>
            <a:rect l="l" t="t" r="r" b="b"/>
            <a:pathLst>
              <a:path w="406475" h="461903">
                <a:moveTo>
                  <a:pt x="0" y="0"/>
                </a:moveTo>
                <a:lnTo>
                  <a:pt x="406475" y="0"/>
                </a:lnTo>
                <a:lnTo>
                  <a:pt x="406475" y="461902"/>
                </a:lnTo>
                <a:lnTo>
                  <a:pt x="0" y="4619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6" name="Freeform 46"/>
          <p:cNvSpPr/>
          <p:nvPr/>
        </p:nvSpPr>
        <p:spPr>
          <a:xfrm rot="-5333870">
            <a:off x="4322766" y="4111160"/>
            <a:ext cx="782465" cy="889165"/>
          </a:xfrm>
          <a:custGeom>
            <a:avLst/>
            <a:gdLst/>
            <a:ahLst/>
            <a:cxnLst/>
            <a:rect l="l" t="t" r="r" b="b"/>
            <a:pathLst>
              <a:path w="782465" h="889165">
                <a:moveTo>
                  <a:pt x="0" y="0"/>
                </a:moveTo>
                <a:lnTo>
                  <a:pt x="782466" y="0"/>
                </a:lnTo>
                <a:lnTo>
                  <a:pt x="782466" y="889165"/>
                </a:lnTo>
                <a:lnTo>
                  <a:pt x="0" y="8891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7" name="TextBox 47"/>
          <p:cNvSpPr txBox="1"/>
          <p:nvPr/>
        </p:nvSpPr>
        <p:spPr>
          <a:xfrm>
            <a:off x="5289288" y="4123869"/>
            <a:ext cx="2602714" cy="739275"/>
          </a:xfrm>
          <a:prstGeom prst="rect">
            <a:avLst/>
          </a:prstGeom>
        </p:spPr>
        <p:txBody>
          <a:bodyPr lIns="0" tIns="0" rIns="0" bIns="0" rtlCol="0" anchor="t">
            <a:spAutoFit/>
          </a:bodyPr>
          <a:lstStyle/>
          <a:p>
            <a:pPr algn="l">
              <a:lnSpc>
                <a:spcPts val="6001"/>
              </a:lnSpc>
            </a:pPr>
            <a:r>
              <a:rPr lang="en-US" sz="4616" b="1">
                <a:solidFill>
                  <a:srgbClr val="EEF2F7"/>
                </a:solidFill>
                <a:latin typeface="DM Sans Bold"/>
                <a:ea typeface="DM Sans Bold"/>
                <a:cs typeface="DM Sans Bold"/>
                <a:sym typeface="DM Sans Bold"/>
              </a:rPr>
              <a:t>表示</a:t>
            </a:r>
          </a:p>
        </p:txBody>
      </p:sp>
      <p:sp>
        <p:nvSpPr>
          <p:cNvPr id="48" name="TextBox 48"/>
          <p:cNvSpPr txBox="1"/>
          <p:nvPr/>
        </p:nvSpPr>
        <p:spPr>
          <a:xfrm>
            <a:off x="5154822" y="1936183"/>
            <a:ext cx="2737179" cy="503474"/>
          </a:xfrm>
          <a:prstGeom prst="rect">
            <a:avLst/>
          </a:prstGeom>
        </p:spPr>
        <p:txBody>
          <a:bodyPr lIns="0" tIns="0" rIns="0" bIns="0" rtlCol="0" anchor="t">
            <a:spAutoFit/>
          </a:bodyPr>
          <a:lstStyle/>
          <a:p>
            <a:pPr algn="l">
              <a:lnSpc>
                <a:spcPts val="4038"/>
              </a:lnSpc>
            </a:pPr>
            <a:r>
              <a:rPr lang="en-US" sz="3106" b="1">
                <a:solidFill>
                  <a:srgbClr val="EEF2F7"/>
                </a:solidFill>
                <a:latin typeface="DM Sans Bold"/>
                <a:ea typeface="DM Sans Bold"/>
                <a:cs typeface="DM Sans Bold"/>
                <a:sym typeface="DM Sans Bold"/>
              </a:rPr>
              <a:t>車両データ</a:t>
            </a:r>
          </a:p>
        </p:txBody>
      </p:sp>
      <p:sp>
        <p:nvSpPr>
          <p:cNvPr id="49" name="Freeform 49"/>
          <p:cNvSpPr/>
          <p:nvPr/>
        </p:nvSpPr>
        <p:spPr>
          <a:xfrm>
            <a:off x="5804258" y="2844795"/>
            <a:ext cx="719154" cy="817221"/>
          </a:xfrm>
          <a:custGeom>
            <a:avLst/>
            <a:gdLst/>
            <a:ahLst/>
            <a:cxnLst/>
            <a:rect l="l" t="t" r="r" b="b"/>
            <a:pathLst>
              <a:path w="719154" h="817221">
                <a:moveTo>
                  <a:pt x="0" y="0"/>
                </a:moveTo>
                <a:lnTo>
                  <a:pt x="719154" y="0"/>
                </a:lnTo>
                <a:lnTo>
                  <a:pt x="719154" y="817221"/>
                </a:lnTo>
                <a:lnTo>
                  <a:pt x="0" y="8172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50" name="Group 50"/>
          <p:cNvGrpSpPr/>
          <p:nvPr/>
        </p:nvGrpSpPr>
        <p:grpSpPr>
          <a:xfrm rot="5400000">
            <a:off x="1569073" y="1757377"/>
            <a:ext cx="249543" cy="260634"/>
            <a:chOff x="0" y="0"/>
            <a:chExt cx="571500" cy="596900"/>
          </a:xfrm>
        </p:grpSpPr>
        <p:sp>
          <p:nvSpPr>
            <p:cNvPr id="51" name="Freeform 51"/>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FFFFFF"/>
            </a:solidFill>
          </p:spPr>
          <p:txBody>
            <a:bodyPr/>
            <a:lstStyle/>
            <a:p>
              <a:endParaRPr lang="en-US"/>
            </a:p>
          </p:txBody>
        </p:sp>
        <p:sp>
          <p:nvSpPr>
            <p:cNvPr id="52" name="TextBox 52"/>
            <p:cNvSpPr txBox="1"/>
            <p:nvPr/>
          </p:nvSpPr>
          <p:spPr>
            <a:xfrm>
              <a:off x="0" y="317500"/>
              <a:ext cx="285750" cy="278130"/>
            </a:xfrm>
            <a:prstGeom prst="rect">
              <a:avLst/>
            </a:prstGeom>
          </p:spPr>
          <p:txBody>
            <a:bodyPr lIns="50800" tIns="50800" rIns="50800" bIns="50800" rtlCol="0" anchor="ctr"/>
            <a:lstStyle/>
            <a:p>
              <a:pPr algn="ctr">
                <a:lnSpc>
                  <a:spcPts val="1980"/>
                </a:lnSpc>
              </a:pPr>
              <a:endParaRPr/>
            </a:p>
          </p:txBody>
        </p:sp>
      </p:grpSp>
      <p:sp>
        <p:nvSpPr>
          <p:cNvPr id="53" name="TextBox 53"/>
          <p:cNvSpPr txBox="1"/>
          <p:nvPr/>
        </p:nvSpPr>
        <p:spPr>
          <a:xfrm>
            <a:off x="11985287" y="6473010"/>
            <a:ext cx="3278528" cy="238552"/>
          </a:xfrm>
          <a:prstGeom prst="rect">
            <a:avLst/>
          </a:prstGeom>
        </p:spPr>
        <p:txBody>
          <a:bodyPr lIns="0" tIns="0" rIns="0" bIns="0" rtlCol="0" anchor="t">
            <a:spAutoFit/>
          </a:bodyPr>
          <a:lstStyle/>
          <a:p>
            <a:pPr marL="328365" lvl="1" indent="-164182" algn="l">
              <a:lnSpc>
                <a:spcPts val="1977"/>
              </a:lnSpc>
              <a:buFont typeface="Arial"/>
              <a:buChar char="•"/>
            </a:pPr>
            <a:r>
              <a:rPr lang="en-US" sz="1520" b="1">
                <a:solidFill>
                  <a:srgbClr val="3FFFE8"/>
                </a:solidFill>
                <a:latin typeface="DM Sans Bold"/>
                <a:ea typeface="DM Sans Bold"/>
                <a:cs typeface="DM Sans Bold"/>
                <a:sym typeface="DM Sans Bold"/>
              </a:rPr>
              <a:t>警告・通知機能</a:t>
            </a:r>
          </a:p>
        </p:txBody>
      </p:sp>
      <p:sp>
        <p:nvSpPr>
          <p:cNvPr id="54" name="TextBox 54"/>
          <p:cNvSpPr txBox="1"/>
          <p:nvPr/>
        </p:nvSpPr>
        <p:spPr>
          <a:xfrm>
            <a:off x="12245921" y="6834069"/>
            <a:ext cx="3544556" cy="1018740"/>
          </a:xfrm>
          <a:prstGeom prst="rect">
            <a:avLst/>
          </a:prstGeom>
        </p:spPr>
        <p:txBody>
          <a:bodyPr lIns="0" tIns="0" rIns="0" bIns="0" rtlCol="0" anchor="t">
            <a:spAutoFit/>
          </a:bodyPr>
          <a:lstStyle/>
          <a:p>
            <a:pPr algn="l">
              <a:lnSpc>
                <a:spcPts val="2020"/>
              </a:lnSpc>
            </a:pPr>
            <a:r>
              <a:rPr lang="en-US" sz="1550" dirty="0" err="1">
                <a:solidFill>
                  <a:srgbClr val="FFFFFF"/>
                </a:solidFill>
                <a:latin typeface="DM Sans"/>
                <a:ea typeface="DM Sans"/>
                <a:cs typeface="DM Sans"/>
                <a:sym typeface="DM Sans"/>
              </a:rPr>
              <a:t>段階的な警告表示（注意・高リスク・危険）と音声による注意喚起でドライバーを支援する</a:t>
            </a:r>
            <a:r>
              <a:rPr lang="en-US" sz="1550" dirty="0">
                <a:solidFill>
                  <a:srgbClr val="FFFFFF"/>
                </a:solidFill>
                <a:latin typeface="DM Sans"/>
                <a:ea typeface="DM Sans"/>
                <a:cs typeface="DM Sans"/>
                <a:sym typeface="DM Sans"/>
              </a:rPr>
              <a:t>。</a:t>
            </a:r>
          </a:p>
          <a:p>
            <a:pPr algn="l">
              <a:lnSpc>
                <a:spcPts val="2020"/>
              </a:lnSpc>
            </a:pPr>
            <a:endParaRPr lang="en-US" sz="1554">
              <a:solidFill>
                <a:srgbClr val="FFFFFF"/>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017840"/>
            <a:ext cx="209084" cy="292611"/>
          </a:xfrm>
          <a:custGeom>
            <a:avLst/>
            <a:gdLst/>
            <a:ahLst/>
            <a:cxnLst/>
            <a:rect l="l" t="t" r="r" b="b"/>
            <a:pathLst>
              <a:path w="209084" h="292611">
                <a:moveTo>
                  <a:pt x="0" y="0"/>
                </a:moveTo>
                <a:lnTo>
                  <a:pt x="209084" y="0"/>
                </a:lnTo>
                <a:lnTo>
                  <a:pt x="209084" y="292611"/>
                </a:lnTo>
                <a:lnTo>
                  <a:pt x="0" y="2926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1028700" y="4749213"/>
            <a:ext cx="4259474" cy="4509087"/>
            <a:chOff x="0" y="0"/>
            <a:chExt cx="1121837" cy="1187578"/>
          </a:xfrm>
        </p:grpSpPr>
        <p:sp>
          <p:nvSpPr>
            <p:cNvPr id="4" name="Freeform 4"/>
            <p:cNvSpPr/>
            <p:nvPr/>
          </p:nvSpPr>
          <p:spPr>
            <a:xfrm>
              <a:off x="0" y="0"/>
              <a:ext cx="1121837" cy="1187578"/>
            </a:xfrm>
            <a:custGeom>
              <a:avLst/>
              <a:gdLst/>
              <a:ahLst/>
              <a:cxnLst/>
              <a:rect l="l" t="t" r="r" b="b"/>
              <a:pathLst>
                <a:path w="1121837" h="1187578">
                  <a:moveTo>
                    <a:pt x="59980" y="0"/>
                  </a:moveTo>
                  <a:lnTo>
                    <a:pt x="1061857" y="0"/>
                  </a:lnTo>
                  <a:cubicBezTo>
                    <a:pt x="1077764" y="0"/>
                    <a:pt x="1093021" y="6319"/>
                    <a:pt x="1104269" y="17568"/>
                  </a:cubicBezTo>
                  <a:cubicBezTo>
                    <a:pt x="1115517" y="28816"/>
                    <a:pt x="1121837" y="44072"/>
                    <a:pt x="1121837" y="59980"/>
                  </a:cubicBezTo>
                  <a:lnTo>
                    <a:pt x="1121837" y="1127598"/>
                  </a:lnTo>
                  <a:cubicBezTo>
                    <a:pt x="1121837" y="1160724"/>
                    <a:pt x="1094983" y="1187578"/>
                    <a:pt x="1061857" y="1187578"/>
                  </a:cubicBezTo>
                  <a:lnTo>
                    <a:pt x="59980" y="1187578"/>
                  </a:lnTo>
                  <a:cubicBezTo>
                    <a:pt x="26854" y="1187578"/>
                    <a:pt x="0" y="1160724"/>
                    <a:pt x="0" y="1127598"/>
                  </a:cubicBezTo>
                  <a:lnTo>
                    <a:pt x="0" y="59980"/>
                  </a:lnTo>
                  <a:cubicBezTo>
                    <a:pt x="0" y="26854"/>
                    <a:pt x="26854" y="0"/>
                    <a:pt x="59980" y="0"/>
                  </a:cubicBezTo>
                  <a:close/>
                </a:path>
              </a:pathLst>
            </a:custGeom>
            <a:ln w="38100" cap="rnd">
              <a:solidFill>
                <a:srgbClr val="0D76D7"/>
              </a:solidFill>
              <a:prstDash val="solid"/>
              <a:round/>
            </a:ln>
          </p:spPr>
          <p:txBody>
            <a:bodyPr/>
            <a:lstStyle/>
            <a:p>
              <a:endParaRPr lang="en-US"/>
            </a:p>
          </p:txBody>
        </p:sp>
        <p:sp>
          <p:nvSpPr>
            <p:cNvPr id="5" name="TextBox 5"/>
            <p:cNvSpPr txBox="1"/>
            <p:nvPr/>
          </p:nvSpPr>
          <p:spPr>
            <a:xfrm>
              <a:off x="0" y="-38100"/>
              <a:ext cx="1121837" cy="122567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7014263" y="4749213"/>
            <a:ext cx="4259474" cy="4509087"/>
            <a:chOff x="0" y="0"/>
            <a:chExt cx="1121837" cy="1187578"/>
          </a:xfrm>
        </p:grpSpPr>
        <p:sp>
          <p:nvSpPr>
            <p:cNvPr id="7" name="Freeform 7"/>
            <p:cNvSpPr/>
            <p:nvPr/>
          </p:nvSpPr>
          <p:spPr>
            <a:xfrm>
              <a:off x="0" y="0"/>
              <a:ext cx="1121837" cy="1187578"/>
            </a:xfrm>
            <a:custGeom>
              <a:avLst/>
              <a:gdLst/>
              <a:ahLst/>
              <a:cxnLst/>
              <a:rect l="l" t="t" r="r" b="b"/>
              <a:pathLst>
                <a:path w="1121837" h="1187578">
                  <a:moveTo>
                    <a:pt x="59980" y="0"/>
                  </a:moveTo>
                  <a:lnTo>
                    <a:pt x="1061857" y="0"/>
                  </a:lnTo>
                  <a:cubicBezTo>
                    <a:pt x="1077764" y="0"/>
                    <a:pt x="1093021" y="6319"/>
                    <a:pt x="1104269" y="17568"/>
                  </a:cubicBezTo>
                  <a:cubicBezTo>
                    <a:pt x="1115517" y="28816"/>
                    <a:pt x="1121837" y="44072"/>
                    <a:pt x="1121837" y="59980"/>
                  </a:cubicBezTo>
                  <a:lnTo>
                    <a:pt x="1121837" y="1127598"/>
                  </a:lnTo>
                  <a:cubicBezTo>
                    <a:pt x="1121837" y="1160724"/>
                    <a:pt x="1094983" y="1187578"/>
                    <a:pt x="1061857" y="1187578"/>
                  </a:cubicBezTo>
                  <a:lnTo>
                    <a:pt x="59980" y="1187578"/>
                  </a:lnTo>
                  <a:cubicBezTo>
                    <a:pt x="26854" y="1187578"/>
                    <a:pt x="0" y="1160724"/>
                    <a:pt x="0" y="1127598"/>
                  </a:cubicBezTo>
                  <a:lnTo>
                    <a:pt x="0" y="59980"/>
                  </a:lnTo>
                  <a:cubicBezTo>
                    <a:pt x="0" y="26854"/>
                    <a:pt x="26854" y="0"/>
                    <a:pt x="59980" y="0"/>
                  </a:cubicBezTo>
                  <a:close/>
                </a:path>
              </a:pathLst>
            </a:custGeom>
            <a:solidFill>
              <a:srgbClr val="FFFFFF"/>
            </a:solidFill>
            <a:ln w="38100" cap="rnd">
              <a:solidFill>
                <a:srgbClr val="0D76D7"/>
              </a:solidFill>
              <a:prstDash val="solid"/>
              <a:round/>
            </a:ln>
          </p:spPr>
          <p:txBody>
            <a:bodyPr/>
            <a:lstStyle/>
            <a:p>
              <a:endParaRPr lang="en-US"/>
            </a:p>
          </p:txBody>
        </p:sp>
        <p:sp>
          <p:nvSpPr>
            <p:cNvPr id="8" name="TextBox 8"/>
            <p:cNvSpPr txBox="1"/>
            <p:nvPr/>
          </p:nvSpPr>
          <p:spPr>
            <a:xfrm>
              <a:off x="0" y="-38100"/>
              <a:ext cx="1121837" cy="122567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2999826" y="4749213"/>
            <a:ext cx="4259474" cy="4509087"/>
            <a:chOff x="0" y="0"/>
            <a:chExt cx="1121837" cy="1187578"/>
          </a:xfrm>
        </p:grpSpPr>
        <p:sp>
          <p:nvSpPr>
            <p:cNvPr id="10" name="Freeform 10"/>
            <p:cNvSpPr/>
            <p:nvPr/>
          </p:nvSpPr>
          <p:spPr>
            <a:xfrm>
              <a:off x="0" y="0"/>
              <a:ext cx="1121837" cy="1187578"/>
            </a:xfrm>
            <a:custGeom>
              <a:avLst/>
              <a:gdLst/>
              <a:ahLst/>
              <a:cxnLst/>
              <a:rect l="l" t="t" r="r" b="b"/>
              <a:pathLst>
                <a:path w="1121837" h="1187578">
                  <a:moveTo>
                    <a:pt x="59980" y="0"/>
                  </a:moveTo>
                  <a:lnTo>
                    <a:pt x="1061857" y="0"/>
                  </a:lnTo>
                  <a:cubicBezTo>
                    <a:pt x="1077764" y="0"/>
                    <a:pt x="1093021" y="6319"/>
                    <a:pt x="1104269" y="17568"/>
                  </a:cubicBezTo>
                  <a:cubicBezTo>
                    <a:pt x="1115517" y="28816"/>
                    <a:pt x="1121837" y="44072"/>
                    <a:pt x="1121837" y="59980"/>
                  </a:cubicBezTo>
                  <a:lnTo>
                    <a:pt x="1121837" y="1127598"/>
                  </a:lnTo>
                  <a:cubicBezTo>
                    <a:pt x="1121837" y="1160724"/>
                    <a:pt x="1094983" y="1187578"/>
                    <a:pt x="1061857" y="1187578"/>
                  </a:cubicBezTo>
                  <a:lnTo>
                    <a:pt x="59980" y="1187578"/>
                  </a:lnTo>
                  <a:cubicBezTo>
                    <a:pt x="26854" y="1187578"/>
                    <a:pt x="0" y="1160724"/>
                    <a:pt x="0" y="1127598"/>
                  </a:cubicBezTo>
                  <a:lnTo>
                    <a:pt x="0" y="59980"/>
                  </a:lnTo>
                  <a:cubicBezTo>
                    <a:pt x="0" y="26854"/>
                    <a:pt x="26854" y="0"/>
                    <a:pt x="59980" y="0"/>
                  </a:cubicBezTo>
                  <a:close/>
                </a:path>
              </a:pathLst>
            </a:custGeom>
            <a:solidFill>
              <a:srgbClr val="FFFFFF"/>
            </a:solidFill>
            <a:ln w="38100" cap="rnd">
              <a:solidFill>
                <a:srgbClr val="0D76D7"/>
              </a:solidFill>
              <a:prstDash val="solid"/>
              <a:round/>
            </a:ln>
          </p:spPr>
          <p:txBody>
            <a:bodyPr/>
            <a:lstStyle/>
            <a:p>
              <a:endParaRPr lang="en-US"/>
            </a:p>
          </p:txBody>
        </p:sp>
        <p:sp>
          <p:nvSpPr>
            <p:cNvPr id="11" name="TextBox 11"/>
            <p:cNvSpPr txBox="1"/>
            <p:nvPr/>
          </p:nvSpPr>
          <p:spPr>
            <a:xfrm>
              <a:off x="0" y="-38100"/>
              <a:ext cx="1121837" cy="1225678"/>
            </a:xfrm>
            <a:prstGeom prst="rect">
              <a:avLst/>
            </a:prstGeom>
          </p:spPr>
          <p:txBody>
            <a:bodyPr lIns="50800" tIns="50800" rIns="50800" bIns="50800" rtlCol="0" anchor="ctr"/>
            <a:lstStyle/>
            <a:p>
              <a:pPr algn="ctr">
                <a:lnSpc>
                  <a:spcPts val="2659"/>
                </a:lnSpc>
                <a:spcBef>
                  <a:spcPct val="0"/>
                </a:spcBef>
              </a:pPr>
              <a:endParaRPr/>
            </a:p>
          </p:txBody>
        </p:sp>
      </p:grpSp>
      <p:sp>
        <p:nvSpPr>
          <p:cNvPr id="12" name="AutoShape 12"/>
          <p:cNvSpPr/>
          <p:nvPr/>
        </p:nvSpPr>
        <p:spPr>
          <a:xfrm>
            <a:off x="1275355" y="6156172"/>
            <a:ext cx="3849621" cy="0"/>
          </a:xfrm>
          <a:prstGeom prst="line">
            <a:avLst/>
          </a:prstGeom>
          <a:ln w="38100" cap="flat">
            <a:solidFill>
              <a:srgbClr val="0D76D7"/>
            </a:solidFill>
            <a:prstDash val="solid"/>
            <a:headEnd type="none" w="sm" len="sm"/>
            <a:tailEnd type="none" w="sm" len="sm"/>
          </a:ln>
        </p:spPr>
        <p:txBody>
          <a:bodyPr/>
          <a:lstStyle/>
          <a:p>
            <a:endParaRPr lang="en-US"/>
          </a:p>
        </p:txBody>
      </p:sp>
      <p:sp>
        <p:nvSpPr>
          <p:cNvPr id="13" name="AutoShape 13"/>
          <p:cNvSpPr/>
          <p:nvPr/>
        </p:nvSpPr>
        <p:spPr>
          <a:xfrm>
            <a:off x="7219190" y="6137122"/>
            <a:ext cx="3849621" cy="0"/>
          </a:xfrm>
          <a:prstGeom prst="line">
            <a:avLst/>
          </a:prstGeom>
          <a:ln w="38100" cap="flat">
            <a:solidFill>
              <a:srgbClr val="0D76D7"/>
            </a:solidFill>
            <a:prstDash val="solid"/>
            <a:headEnd type="none" w="sm" len="sm"/>
            <a:tailEnd type="none" w="sm" len="sm"/>
          </a:ln>
        </p:spPr>
        <p:txBody>
          <a:bodyPr/>
          <a:lstStyle/>
          <a:p>
            <a:endParaRPr lang="en-US"/>
          </a:p>
        </p:txBody>
      </p:sp>
      <p:sp>
        <p:nvSpPr>
          <p:cNvPr id="14" name="AutoShape 14"/>
          <p:cNvSpPr/>
          <p:nvPr/>
        </p:nvSpPr>
        <p:spPr>
          <a:xfrm>
            <a:off x="13163024" y="6118072"/>
            <a:ext cx="3849621" cy="0"/>
          </a:xfrm>
          <a:prstGeom prst="line">
            <a:avLst/>
          </a:prstGeom>
          <a:ln w="38100" cap="flat">
            <a:solidFill>
              <a:srgbClr val="0D76D7"/>
            </a:solidFill>
            <a:prstDash val="solid"/>
            <a:headEnd type="none" w="sm" len="sm"/>
            <a:tailEnd type="none" w="sm" len="sm"/>
          </a:ln>
        </p:spPr>
        <p:txBody>
          <a:bodyPr/>
          <a:lstStyle/>
          <a:p>
            <a:endParaRPr lang="en-US"/>
          </a:p>
        </p:txBody>
      </p:sp>
      <p:sp>
        <p:nvSpPr>
          <p:cNvPr id="15" name="TextBox 15"/>
          <p:cNvSpPr txBox="1"/>
          <p:nvPr/>
        </p:nvSpPr>
        <p:spPr>
          <a:xfrm>
            <a:off x="2218974" y="1287971"/>
            <a:ext cx="13706883" cy="4097655"/>
          </a:xfrm>
          <a:prstGeom prst="rect">
            <a:avLst/>
          </a:prstGeom>
        </p:spPr>
        <p:txBody>
          <a:bodyPr lIns="0" tIns="0" rIns="0" bIns="0" rtlCol="0" anchor="t">
            <a:spAutoFit/>
          </a:bodyPr>
          <a:lstStyle/>
          <a:p>
            <a:pPr algn="ctr">
              <a:lnSpc>
                <a:spcPts val="7559"/>
              </a:lnSpc>
            </a:pPr>
            <a:r>
              <a:rPr lang="en-US" sz="9000">
                <a:gradFill>
                  <a:gsLst>
                    <a:gs pos="0">
                      <a:srgbClr val="03376D">
                        <a:alpha val="100000"/>
                      </a:srgbClr>
                    </a:gs>
                    <a:gs pos="100000">
                      <a:srgbClr val="0D76D7">
                        <a:alpha val="100000"/>
                      </a:srgbClr>
                    </a:gs>
                  </a:gsLst>
                  <a:lin ang="0"/>
                </a:gradFill>
                <a:latin typeface="Reesha"/>
                <a:ea typeface="Reesha"/>
                <a:cs typeface="Reesha"/>
                <a:sym typeface="Reesha"/>
              </a:rPr>
              <a:t>特徴</a:t>
            </a:r>
          </a:p>
          <a:p>
            <a:pPr algn="ctr">
              <a:lnSpc>
                <a:spcPts val="7559"/>
              </a:lnSpc>
            </a:pPr>
            <a:r>
              <a:rPr lang="en-US" sz="9000">
                <a:gradFill>
                  <a:gsLst>
                    <a:gs pos="0">
                      <a:srgbClr val="03376D">
                        <a:alpha val="100000"/>
                      </a:srgbClr>
                    </a:gs>
                    <a:gs pos="100000">
                      <a:srgbClr val="0D76D7">
                        <a:alpha val="100000"/>
                      </a:srgbClr>
                    </a:gs>
                  </a:gsLst>
                  <a:lin ang="0"/>
                </a:gradFill>
                <a:latin typeface="Reesha"/>
                <a:ea typeface="Reesha"/>
                <a:cs typeface="Reesha"/>
                <a:sym typeface="Reesha"/>
              </a:rPr>
              <a:t>・</a:t>
            </a:r>
          </a:p>
          <a:p>
            <a:pPr algn="ctr">
              <a:lnSpc>
                <a:spcPts val="7559"/>
              </a:lnSpc>
            </a:pPr>
            <a:r>
              <a:rPr lang="en-US" sz="9000">
                <a:gradFill>
                  <a:gsLst>
                    <a:gs pos="0">
                      <a:srgbClr val="03376D">
                        <a:alpha val="100000"/>
                      </a:srgbClr>
                    </a:gs>
                    <a:gs pos="100000">
                      <a:srgbClr val="0D76D7">
                        <a:alpha val="100000"/>
                      </a:srgbClr>
                    </a:gs>
                  </a:gsLst>
                  <a:lin ang="0"/>
                </a:gradFill>
                <a:latin typeface="Reesha"/>
                <a:ea typeface="Reesha"/>
                <a:cs typeface="Reesha"/>
                <a:sym typeface="Reesha"/>
              </a:rPr>
              <a:t>設計の工夫</a:t>
            </a:r>
          </a:p>
          <a:p>
            <a:pPr algn="ctr">
              <a:lnSpc>
                <a:spcPts val="7559"/>
              </a:lnSpc>
            </a:pPr>
            <a:r>
              <a:rPr lang="en-US" sz="9000">
                <a:gradFill>
                  <a:gsLst>
                    <a:gs pos="0">
                      <a:srgbClr val="03376D">
                        <a:alpha val="100000"/>
                      </a:srgbClr>
                    </a:gs>
                    <a:gs pos="100000">
                      <a:srgbClr val="0D76D7">
                        <a:alpha val="100000"/>
                      </a:srgbClr>
                    </a:gs>
                  </a:gsLst>
                  <a:lin ang="0"/>
                </a:gradFill>
                <a:latin typeface="Reesha"/>
                <a:ea typeface="Reesha"/>
                <a:cs typeface="Reesha"/>
                <a:sym typeface="Reesha"/>
              </a:rPr>
              <a:t> </a:t>
            </a:r>
          </a:p>
        </p:txBody>
      </p:sp>
      <p:sp>
        <p:nvSpPr>
          <p:cNvPr id="16" name="TextBox 16"/>
          <p:cNvSpPr txBox="1"/>
          <p:nvPr/>
        </p:nvSpPr>
        <p:spPr>
          <a:xfrm>
            <a:off x="1237784" y="1028700"/>
            <a:ext cx="1962381" cy="270891"/>
          </a:xfrm>
          <a:prstGeom prst="rect">
            <a:avLst/>
          </a:prstGeom>
        </p:spPr>
        <p:txBody>
          <a:bodyPr lIns="0" tIns="0" rIns="0" bIns="0" rtlCol="0" anchor="t">
            <a:spAutoFit/>
          </a:bodyPr>
          <a:lstStyle/>
          <a:p>
            <a:pPr algn="just">
              <a:lnSpc>
                <a:spcPts val="2052"/>
              </a:lnSpc>
            </a:pPr>
            <a:r>
              <a:rPr lang="en-US" sz="1800" b="1">
                <a:solidFill>
                  <a:srgbClr val="0D76D7"/>
                </a:solidFill>
                <a:latin typeface="TT Hoves Bold"/>
                <a:ea typeface="TT Hoves Bold"/>
                <a:cs typeface="TT Hoves Bold"/>
                <a:sym typeface="TT Hoves Bold"/>
              </a:rPr>
              <a:t>   Neuro Driver</a:t>
            </a:r>
          </a:p>
        </p:txBody>
      </p:sp>
      <p:sp>
        <p:nvSpPr>
          <p:cNvPr id="17" name="TextBox 17"/>
          <p:cNvSpPr txBox="1"/>
          <p:nvPr/>
        </p:nvSpPr>
        <p:spPr>
          <a:xfrm>
            <a:off x="1703839" y="5153025"/>
            <a:ext cx="2909195" cy="714375"/>
          </a:xfrm>
          <a:prstGeom prst="rect">
            <a:avLst/>
          </a:prstGeom>
        </p:spPr>
        <p:txBody>
          <a:bodyPr lIns="0" tIns="0" rIns="0" bIns="0" rtlCol="0" anchor="t">
            <a:spAutoFit/>
          </a:bodyPr>
          <a:lstStyle/>
          <a:p>
            <a:pPr marL="0" lvl="0" indent="0" algn="ctr">
              <a:lnSpc>
                <a:spcPts val="2849"/>
              </a:lnSpc>
              <a:spcBef>
                <a:spcPct val="0"/>
              </a:spcBef>
            </a:pPr>
            <a:r>
              <a:rPr lang="en-US" sz="2499" b="1">
                <a:solidFill>
                  <a:srgbClr val="0D76D7"/>
                </a:solidFill>
                <a:latin typeface="TT Hoves Bold"/>
                <a:ea typeface="TT Hoves Bold"/>
                <a:cs typeface="TT Hoves Bold"/>
                <a:sym typeface="TT Hoves Bold"/>
              </a:rPr>
              <a:t>マルチセンサーとAIによる総合危険判定</a:t>
            </a:r>
          </a:p>
        </p:txBody>
      </p:sp>
      <p:sp>
        <p:nvSpPr>
          <p:cNvPr id="18" name="TextBox 18"/>
          <p:cNvSpPr txBox="1"/>
          <p:nvPr/>
        </p:nvSpPr>
        <p:spPr>
          <a:xfrm>
            <a:off x="7689402" y="5153025"/>
            <a:ext cx="2909195" cy="714375"/>
          </a:xfrm>
          <a:prstGeom prst="rect">
            <a:avLst/>
          </a:prstGeom>
        </p:spPr>
        <p:txBody>
          <a:bodyPr lIns="0" tIns="0" rIns="0" bIns="0" rtlCol="0" anchor="t">
            <a:spAutoFit/>
          </a:bodyPr>
          <a:lstStyle/>
          <a:p>
            <a:pPr marL="0" lvl="0" indent="0" algn="ctr">
              <a:lnSpc>
                <a:spcPts val="2849"/>
              </a:lnSpc>
              <a:spcBef>
                <a:spcPct val="0"/>
              </a:spcBef>
            </a:pPr>
            <a:r>
              <a:rPr lang="en-US" sz="2499" b="1">
                <a:solidFill>
                  <a:srgbClr val="0D76D7"/>
                </a:solidFill>
                <a:latin typeface="TT Hoves Bold"/>
                <a:ea typeface="TT Hoves Bold"/>
                <a:cs typeface="TT Hoves Bold"/>
                <a:sym typeface="TT Hoves Bold"/>
              </a:rPr>
              <a:t>段階的警告による直感的なドライバー支援</a:t>
            </a:r>
          </a:p>
        </p:txBody>
      </p:sp>
      <p:sp>
        <p:nvSpPr>
          <p:cNvPr id="19" name="TextBox 19"/>
          <p:cNvSpPr txBox="1"/>
          <p:nvPr/>
        </p:nvSpPr>
        <p:spPr>
          <a:xfrm>
            <a:off x="13718098" y="5027313"/>
            <a:ext cx="2909195" cy="714375"/>
          </a:xfrm>
          <a:prstGeom prst="rect">
            <a:avLst/>
          </a:prstGeom>
        </p:spPr>
        <p:txBody>
          <a:bodyPr lIns="0" tIns="0" rIns="0" bIns="0" rtlCol="0" anchor="t">
            <a:spAutoFit/>
          </a:bodyPr>
          <a:lstStyle/>
          <a:p>
            <a:pPr marL="0" lvl="0" indent="0" algn="ctr">
              <a:lnSpc>
                <a:spcPts val="2849"/>
              </a:lnSpc>
              <a:spcBef>
                <a:spcPct val="0"/>
              </a:spcBef>
            </a:pPr>
            <a:r>
              <a:rPr lang="en-US" sz="2499" b="1">
                <a:solidFill>
                  <a:srgbClr val="0D76D7"/>
                </a:solidFill>
                <a:latin typeface="TT Hoves Bold"/>
                <a:ea typeface="TT Hoves Bold"/>
                <a:cs typeface="TT Hoves Bold"/>
                <a:sym typeface="TT Hoves Bold"/>
              </a:rPr>
              <a:t>将来の拡張性（V2V・自動ブレーキ・クラウド学習）</a:t>
            </a:r>
          </a:p>
        </p:txBody>
      </p:sp>
      <p:sp>
        <p:nvSpPr>
          <p:cNvPr id="20" name="TextBox 20"/>
          <p:cNvSpPr txBox="1"/>
          <p:nvPr/>
        </p:nvSpPr>
        <p:spPr>
          <a:xfrm>
            <a:off x="1755859" y="6725865"/>
            <a:ext cx="2805156" cy="2005965"/>
          </a:xfrm>
          <a:prstGeom prst="rect">
            <a:avLst/>
          </a:prstGeom>
        </p:spPr>
        <p:txBody>
          <a:bodyPr lIns="0" tIns="0" rIns="0" bIns="0" rtlCol="0" anchor="t">
            <a:spAutoFit/>
          </a:bodyPr>
          <a:lstStyle/>
          <a:p>
            <a:pPr marL="0" lvl="0" indent="0" algn="ctr">
              <a:lnSpc>
                <a:spcPts val="2279"/>
              </a:lnSpc>
              <a:spcBef>
                <a:spcPct val="0"/>
              </a:spcBef>
            </a:pPr>
            <a:r>
              <a:rPr lang="en-US" sz="1999">
                <a:solidFill>
                  <a:srgbClr val="0D76D7"/>
                </a:solidFill>
                <a:latin typeface="TT Hoves"/>
                <a:ea typeface="TT Hoves"/>
                <a:cs typeface="TT Hoves"/>
                <a:sym typeface="TT Hoves"/>
              </a:rPr>
              <a:t>速度・急加速・急減速・ジャイロセンサー・周辺状況など複数のデータをAIで統合し、リアルタイムに総合的な危険度を判定することで高精度な支援を実現する。</a:t>
            </a:r>
          </a:p>
        </p:txBody>
      </p:sp>
      <p:sp>
        <p:nvSpPr>
          <p:cNvPr id="21" name="TextBox 21"/>
          <p:cNvSpPr txBox="1"/>
          <p:nvPr/>
        </p:nvSpPr>
        <p:spPr>
          <a:xfrm>
            <a:off x="7741422" y="6725865"/>
            <a:ext cx="2805156" cy="2005965"/>
          </a:xfrm>
          <a:prstGeom prst="rect">
            <a:avLst/>
          </a:prstGeom>
        </p:spPr>
        <p:txBody>
          <a:bodyPr lIns="0" tIns="0" rIns="0" bIns="0" rtlCol="0" anchor="t">
            <a:spAutoFit/>
          </a:bodyPr>
          <a:lstStyle/>
          <a:p>
            <a:pPr algn="ctr">
              <a:lnSpc>
                <a:spcPts val="2279"/>
              </a:lnSpc>
            </a:pPr>
            <a:r>
              <a:rPr lang="en-US" sz="1999">
                <a:solidFill>
                  <a:srgbClr val="0D76D7"/>
                </a:solidFill>
                <a:latin typeface="TT Hoves"/>
                <a:ea typeface="TT Hoves"/>
                <a:cs typeface="TT Hoves"/>
                <a:sym typeface="TT Hoves"/>
              </a:rPr>
              <a:t>「注意」「高リスク」「危険」の3段階で警告表示を行い、音声による注意喚起も組み合わせることで、ドライバーが状況を瞬時に把握できる設計となっている。</a:t>
            </a:r>
          </a:p>
          <a:p>
            <a:pPr marL="0" lvl="0" indent="0" algn="ctr">
              <a:lnSpc>
                <a:spcPts val="2279"/>
              </a:lnSpc>
              <a:spcBef>
                <a:spcPct val="0"/>
              </a:spcBef>
            </a:pPr>
            <a:endParaRPr lang="en-US" sz="1999">
              <a:solidFill>
                <a:srgbClr val="0D76D7"/>
              </a:solidFill>
              <a:latin typeface="TT Hoves"/>
              <a:ea typeface="TT Hoves"/>
              <a:cs typeface="TT Hoves"/>
              <a:sym typeface="TT Hoves"/>
            </a:endParaRPr>
          </a:p>
        </p:txBody>
      </p:sp>
      <p:sp>
        <p:nvSpPr>
          <p:cNvPr id="22" name="TextBox 22"/>
          <p:cNvSpPr txBox="1"/>
          <p:nvPr/>
        </p:nvSpPr>
        <p:spPr>
          <a:xfrm>
            <a:off x="13726985" y="6725865"/>
            <a:ext cx="2805156" cy="1720215"/>
          </a:xfrm>
          <a:prstGeom prst="rect">
            <a:avLst/>
          </a:prstGeom>
        </p:spPr>
        <p:txBody>
          <a:bodyPr lIns="0" tIns="0" rIns="0" bIns="0" rtlCol="0" anchor="t">
            <a:spAutoFit/>
          </a:bodyPr>
          <a:lstStyle/>
          <a:p>
            <a:pPr marL="0" lvl="0" indent="0" algn="ctr">
              <a:lnSpc>
                <a:spcPts val="2279"/>
              </a:lnSpc>
              <a:spcBef>
                <a:spcPct val="0"/>
              </a:spcBef>
            </a:pPr>
            <a:r>
              <a:rPr lang="en-US" sz="1999">
                <a:solidFill>
                  <a:srgbClr val="0D76D7"/>
                </a:solidFill>
                <a:latin typeface="TT Hoves"/>
                <a:ea typeface="TT Hoves"/>
                <a:cs typeface="TT Hoves"/>
                <a:sym typeface="TT Hoves"/>
              </a:rPr>
              <a:t>将来的には車両間での危険情報共有（V2V）、自動ブレーキ支援、AIによる運転傾向分析、クラウドを活用した学習機能などへの発展を視野に入れている。</a:t>
            </a:r>
          </a:p>
        </p:txBody>
      </p:sp>
      <p:sp>
        <p:nvSpPr>
          <p:cNvPr id="23" name="Freeform 23"/>
          <p:cNvSpPr/>
          <p:nvPr/>
        </p:nvSpPr>
        <p:spPr>
          <a:xfrm>
            <a:off x="14949650" y="657072"/>
            <a:ext cx="2309650" cy="676098"/>
          </a:xfrm>
          <a:custGeom>
            <a:avLst/>
            <a:gdLst/>
            <a:ahLst/>
            <a:cxnLst/>
            <a:rect l="l" t="t" r="r" b="b"/>
            <a:pathLst>
              <a:path w="2309650" h="676098">
                <a:moveTo>
                  <a:pt x="0" y="0"/>
                </a:moveTo>
                <a:lnTo>
                  <a:pt x="2309650" y="0"/>
                </a:lnTo>
                <a:lnTo>
                  <a:pt x="2309650" y="676098"/>
                </a:lnTo>
                <a:lnTo>
                  <a:pt x="0" y="6760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p:cNvSpPr/>
          <p:nvPr/>
        </p:nvSpPr>
        <p:spPr>
          <a:xfrm flipH="1">
            <a:off x="14949650" y="995121"/>
            <a:ext cx="2309650" cy="676098"/>
          </a:xfrm>
          <a:custGeom>
            <a:avLst/>
            <a:gdLst/>
            <a:ahLst/>
            <a:cxnLst/>
            <a:rect l="l" t="t" r="r" b="b"/>
            <a:pathLst>
              <a:path w="2309650" h="676098">
                <a:moveTo>
                  <a:pt x="2309650" y="0"/>
                </a:moveTo>
                <a:lnTo>
                  <a:pt x="0" y="0"/>
                </a:lnTo>
                <a:lnTo>
                  <a:pt x="0" y="676098"/>
                </a:lnTo>
                <a:lnTo>
                  <a:pt x="2309650" y="676098"/>
                </a:lnTo>
                <a:lnTo>
                  <a:pt x="230965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5" name="Freeform 25"/>
          <p:cNvSpPr/>
          <p:nvPr/>
        </p:nvSpPr>
        <p:spPr>
          <a:xfrm>
            <a:off x="337426" y="3499352"/>
            <a:ext cx="2309650" cy="676098"/>
          </a:xfrm>
          <a:custGeom>
            <a:avLst/>
            <a:gdLst/>
            <a:ahLst/>
            <a:cxnLst/>
            <a:rect l="l" t="t" r="r" b="b"/>
            <a:pathLst>
              <a:path w="2309650" h="676098">
                <a:moveTo>
                  <a:pt x="0" y="0"/>
                </a:moveTo>
                <a:lnTo>
                  <a:pt x="2309650" y="0"/>
                </a:lnTo>
                <a:lnTo>
                  <a:pt x="2309650" y="676097"/>
                </a:lnTo>
                <a:lnTo>
                  <a:pt x="0" y="6760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6" name="Freeform 26"/>
          <p:cNvSpPr/>
          <p:nvPr/>
        </p:nvSpPr>
        <p:spPr>
          <a:xfrm flipH="1">
            <a:off x="337426" y="3837401"/>
            <a:ext cx="2309650" cy="676098"/>
          </a:xfrm>
          <a:custGeom>
            <a:avLst/>
            <a:gdLst/>
            <a:ahLst/>
            <a:cxnLst/>
            <a:rect l="l" t="t" r="r" b="b"/>
            <a:pathLst>
              <a:path w="2309650" h="676098">
                <a:moveTo>
                  <a:pt x="2309650" y="0"/>
                </a:moveTo>
                <a:lnTo>
                  <a:pt x="0" y="0"/>
                </a:lnTo>
                <a:lnTo>
                  <a:pt x="0" y="676097"/>
                </a:lnTo>
                <a:lnTo>
                  <a:pt x="2309650" y="676097"/>
                </a:lnTo>
                <a:lnTo>
                  <a:pt x="230965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AutoShape 3"/>
          <p:cNvSpPr/>
          <p:nvPr/>
        </p:nvSpPr>
        <p:spPr>
          <a:xfrm flipV="1">
            <a:off x="-30020" y="4845050"/>
            <a:ext cx="18348040" cy="0"/>
          </a:xfrm>
          <a:prstGeom prst="line">
            <a:avLst/>
          </a:prstGeom>
          <a:ln w="19050" cap="flat">
            <a:solidFill>
              <a:srgbClr val="797979"/>
            </a:solidFill>
            <a:prstDash val="solid"/>
            <a:headEnd type="none" w="sm" len="sm"/>
            <a:tailEnd type="none" w="sm" len="sm"/>
          </a:ln>
        </p:spPr>
        <p:txBody>
          <a:bodyPr/>
          <a:lstStyle/>
          <a:p>
            <a:endParaRPr lang="en-US"/>
          </a:p>
        </p:txBody>
      </p:sp>
      <p:sp>
        <p:nvSpPr>
          <p:cNvPr id="4" name="AutoShape 4"/>
          <p:cNvSpPr/>
          <p:nvPr/>
        </p:nvSpPr>
        <p:spPr>
          <a:xfrm flipV="1">
            <a:off x="5283224" y="0"/>
            <a:ext cx="0" cy="10287000"/>
          </a:xfrm>
          <a:prstGeom prst="line">
            <a:avLst/>
          </a:prstGeom>
          <a:ln w="19050" cap="flat">
            <a:solidFill>
              <a:srgbClr val="797979"/>
            </a:solidFill>
            <a:prstDash val="solid"/>
            <a:headEnd type="none" w="sm" len="sm"/>
            <a:tailEnd type="none" w="sm" len="sm"/>
          </a:ln>
        </p:spPr>
        <p:txBody>
          <a:bodyPr/>
          <a:lstStyle/>
          <a:p>
            <a:endParaRPr lang="en-US"/>
          </a:p>
        </p:txBody>
      </p:sp>
      <p:grpSp>
        <p:nvGrpSpPr>
          <p:cNvPr id="6" name="Group 6"/>
          <p:cNvGrpSpPr/>
          <p:nvPr/>
        </p:nvGrpSpPr>
        <p:grpSpPr>
          <a:xfrm>
            <a:off x="15634419" y="7776535"/>
            <a:ext cx="3086100" cy="3086100"/>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19050" cap="sq">
              <a:solidFill>
                <a:srgbClr val="797979"/>
              </a:solidFill>
              <a:prstDash val="solid"/>
              <a:miter/>
            </a:ln>
          </p:spPr>
          <p:txBody>
            <a:bodyPr/>
            <a:lstStyle/>
            <a:p>
              <a:endParaRPr lang="en-US"/>
            </a:p>
          </p:txBody>
        </p:sp>
        <p:sp>
          <p:nvSpPr>
            <p:cNvPr id="8" name="TextBox 8"/>
            <p:cNvSpPr txBox="1"/>
            <p:nvPr/>
          </p:nvSpPr>
          <p:spPr>
            <a:xfrm>
              <a:off x="0" y="19050"/>
              <a:ext cx="812800" cy="793750"/>
            </a:xfrm>
            <a:prstGeom prst="rect">
              <a:avLst/>
            </a:prstGeom>
          </p:spPr>
          <p:txBody>
            <a:bodyPr lIns="50800" tIns="50800" rIns="50800" bIns="50800" rtlCol="0" anchor="ctr"/>
            <a:lstStyle/>
            <a:p>
              <a:pPr algn="ctr">
                <a:lnSpc>
                  <a:spcPts val="1566"/>
                </a:lnSpc>
              </a:pPr>
              <a:endParaRPr/>
            </a:p>
          </p:txBody>
        </p:sp>
      </p:grpSp>
      <p:sp>
        <p:nvSpPr>
          <p:cNvPr id="9" name="Freeform 9"/>
          <p:cNvSpPr/>
          <p:nvPr/>
        </p:nvSpPr>
        <p:spPr>
          <a:xfrm>
            <a:off x="6307493" y="3034891"/>
            <a:ext cx="596769" cy="596769"/>
          </a:xfrm>
          <a:custGeom>
            <a:avLst/>
            <a:gdLst/>
            <a:ahLst/>
            <a:cxnLst/>
            <a:rect l="l" t="t" r="r" b="b"/>
            <a:pathLst>
              <a:path w="596769" h="596769">
                <a:moveTo>
                  <a:pt x="0" y="0"/>
                </a:moveTo>
                <a:lnTo>
                  <a:pt x="596769" y="0"/>
                </a:lnTo>
                <a:lnTo>
                  <a:pt x="596769" y="596769"/>
                </a:lnTo>
                <a:lnTo>
                  <a:pt x="0" y="5967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p:cNvGrpSpPr/>
          <p:nvPr/>
        </p:nvGrpSpPr>
        <p:grpSpPr>
          <a:xfrm rot="5400000">
            <a:off x="15830464" y="7961490"/>
            <a:ext cx="249543" cy="260634"/>
            <a:chOff x="0" y="0"/>
            <a:chExt cx="571500" cy="596900"/>
          </a:xfrm>
        </p:grpSpPr>
        <p:sp>
          <p:nvSpPr>
            <p:cNvPr id="11" name="Freeform 11"/>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FFFFFF"/>
            </a:solidFill>
          </p:spPr>
          <p:txBody>
            <a:bodyPr/>
            <a:lstStyle/>
            <a:p>
              <a:endParaRPr lang="en-US"/>
            </a:p>
          </p:txBody>
        </p:sp>
        <p:sp>
          <p:nvSpPr>
            <p:cNvPr id="12" name="TextBox 12"/>
            <p:cNvSpPr txBox="1"/>
            <p:nvPr/>
          </p:nvSpPr>
          <p:spPr>
            <a:xfrm>
              <a:off x="0" y="317500"/>
              <a:ext cx="285750" cy="278130"/>
            </a:xfrm>
            <a:prstGeom prst="rect">
              <a:avLst/>
            </a:prstGeom>
          </p:spPr>
          <p:txBody>
            <a:bodyPr lIns="50800" tIns="50800" rIns="50800" bIns="50800" rtlCol="0" anchor="ctr"/>
            <a:lstStyle/>
            <a:p>
              <a:pPr algn="ctr">
                <a:lnSpc>
                  <a:spcPts val="1980"/>
                </a:lnSpc>
              </a:pPr>
              <a:endParaRPr/>
            </a:p>
          </p:txBody>
        </p:sp>
      </p:grpSp>
      <p:grpSp>
        <p:nvGrpSpPr>
          <p:cNvPr id="13" name="Group 13"/>
          <p:cNvGrpSpPr/>
          <p:nvPr/>
        </p:nvGrpSpPr>
        <p:grpSpPr>
          <a:xfrm>
            <a:off x="3797261" y="1028700"/>
            <a:ext cx="1152588" cy="306619"/>
            <a:chOff x="0" y="0"/>
            <a:chExt cx="303562" cy="80756"/>
          </a:xfrm>
        </p:grpSpPr>
        <p:sp>
          <p:nvSpPr>
            <p:cNvPr id="14" name="Freeform 14"/>
            <p:cNvSpPr/>
            <p:nvPr/>
          </p:nvSpPr>
          <p:spPr>
            <a:xfrm>
              <a:off x="0" y="0"/>
              <a:ext cx="303562" cy="80756"/>
            </a:xfrm>
            <a:custGeom>
              <a:avLst/>
              <a:gdLst/>
              <a:ahLst/>
              <a:cxnLst/>
              <a:rect l="l" t="t" r="r" b="b"/>
              <a:pathLst>
                <a:path w="303562" h="80756">
                  <a:moveTo>
                    <a:pt x="0" y="0"/>
                  </a:moveTo>
                  <a:lnTo>
                    <a:pt x="303562" y="0"/>
                  </a:lnTo>
                  <a:lnTo>
                    <a:pt x="303562" y="80756"/>
                  </a:lnTo>
                  <a:lnTo>
                    <a:pt x="0" y="80756"/>
                  </a:lnTo>
                  <a:close/>
                </a:path>
              </a:pathLst>
            </a:custGeom>
            <a:gradFill rotWithShape="1">
              <a:gsLst>
                <a:gs pos="0">
                  <a:srgbClr val="FFFFFF">
                    <a:alpha val="100000"/>
                  </a:srgbClr>
                </a:gs>
                <a:gs pos="100000">
                  <a:srgbClr val="050520">
                    <a:alpha val="0"/>
                  </a:srgbClr>
                </a:gs>
              </a:gsLst>
              <a:lin ang="0"/>
            </a:gradFill>
          </p:spPr>
          <p:txBody>
            <a:bodyPr/>
            <a:lstStyle/>
            <a:p>
              <a:endParaRPr lang="en-US"/>
            </a:p>
          </p:txBody>
        </p:sp>
        <p:sp>
          <p:nvSpPr>
            <p:cNvPr id="15" name="TextBox 15"/>
            <p:cNvSpPr txBox="1"/>
            <p:nvPr/>
          </p:nvSpPr>
          <p:spPr>
            <a:xfrm>
              <a:off x="0" y="19050"/>
              <a:ext cx="303562" cy="61706"/>
            </a:xfrm>
            <a:prstGeom prst="rect">
              <a:avLst/>
            </a:prstGeom>
          </p:spPr>
          <p:txBody>
            <a:bodyPr lIns="50800" tIns="50800" rIns="50800" bIns="50800" rtlCol="0" anchor="ctr"/>
            <a:lstStyle/>
            <a:p>
              <a:pPr algn="ctr">
                <a:lnSpc>
                  <a:spcPts val="1980"/>
                </a:lnSpc>
              </a:pPr>
              <a:endParaRPr/>
            </a:p>
          </p:txBody>
        </p:sp>
      </p:grpSp>
      <p:grpSp>
        <p:nvGrpSpPr>
          <p:cNvPr id="16" name="Group 16"/>
          <p:cNvGrpSpPr/>
          <p:nvPr/>
        </p:nvGrpSpPr>
        <p:grpSpPr>
          <a:xfrm>
            <a:off x="3797261" y="1425045"/>
            <a:ext cx="654602" cy="306619"/>
            <a:chOff x="0" y="0"/>
            <a:chExt cx="172405" cy="80756"/>
          </a:xfrm>
        </p:grpSpPr>
        <p:sp>
          <p:nvSpPr>
            <p:cNvPr id="17" name="Freeform 17"/>
            <p:cNvSpPr/>
            <p:nvPr/>
          </p:nvSpPr>
          <p:spPr>
            <a:xfrm>
              <a:off x="0" y="0"/>
              <a:ext cx="172405" cy="80756"/>
            </a:xfrm>
            <a:custGeom>
              <a:avLst/>
              <a:gdLst/>
              <a:ahLst/>
              <a:cxnLst/>
              <a:rect l="l" t="t" r="r" b="b"/>
              <a:pathLst>
                <a:path w="172405" h="80756">
                  <a:moveTo>
                    <a:pt x="0" y="0"/>
                  </a:moveTo>
                  <a:lnTo>
                    <a:pt x="172405" y="0"/>
                  </a:lnTo>
                  <a:lnTo>
                    <a:pt x="172405" y="80756"/>
                  </a:lnTo>
                  <a:lnTo>
                    <a:pt x="0" y="80756"/>
                  </a:lnTo>
                  <a:close/>
                </a:path>
              </a:pathLst>
            </a:custGeom>
            <a:gradFill rotWithShape="1">
              <a:gsLst>
                <a:gs pos="0">
                  <a:srgbClr val="FFFFFF">
                    <a:alpha val="100000"/>
                  </a:srgbClr>
                </a:gs>
                <a:gs pos="100000">
                  <a:srgbClr val="050520">
                    <a:alpha val="0"/>
                  </a:srgbClr>
                </a:gs>
              </a:gsLst>
              <a:lin ang="0"/>
            </a:gradFill>
          </p:spPr>
          <p:txBody>
            <a:bodyPr/>
            <a:lstStyle/>
            <a:p>
              <a:endParaRPr lang="en-US"/>
            </a:p>
          </p:txBody>
        </p:sp>
        <p:sp>
          <p:nvSpPr>
            <p:cNvPr id="18" name="TextBox 18"/>
            <p:cNvSpPr txBox="1"/>
            <p:nvPr/>
          </p:nvSpPr>
          <p:spPr>
            <a:xfrm>
              <a:off x="0" y="19050"/>
              <a:ext cx="172405" cy="61706"/>
            </a:xfrm>
            <a:prstGeom prst="rect">
              <a:avLst/>
            </a:prstGeom>
          </p:spPr>
          <p:txBody>
            <a:bodyPr lIns="50800" tIns="50800" rIns="50800" bIns="50800" rtlCol="0" anchor="ctr"/>
            <a:lstStyle/>
            <a:p>
              <a:pPr algn="ctr">
                <a:lnSpc>
                  <a:spcPts val="1980"/>
                </a:lnSpc>
              </a:pPr>
              <a:endParaRPr/>
            </a:p>
          </p:txBody>
        </p:sp>
      </p:grpSp>
      <p:grpSp>
        <p:nvGrpSpPr>
          <p:cNvPr id="19" name="Group 19"/>
          <p:cNvGrpSpPr/>
          <p:nvPr/>
        </p:nvGrpSpPr>
        <p:grpSpPr>
          <a:xfrm>
            <a:off x="5460182" y="845141"/>
            <a:ext cx="11717287" cy="7999817"/>
            <a:chOff x="0" y="0"/>
            <a:chExt cx="1373770" cy="937923"/>
          </a:xfrm>
        </p:grpSpPr>
        <p:sp>
          <p:nvSpPr>
            <p:cNvPr id="20" name="Freeform 20"/>
            <p:cNvSpPr/>
            <p:nvPr/>
          </p:nvSpPr>
          <p:spPr>
            <a:xfrm>
              <a:off x="0" y="0"/>
              <a:ext cx="1373770" cy="937923"/>
            </a:xfrm>
            <a:custGeom>
              <a:avLst/>
              <a:gdLst/>
              <a:ahLst/>
              <a:cxnLst/>
              <a:rect l="l" t="t" r="r" b="b"/>
              <a:pathLst>
                <a:path w="1373770" h="937923">
                  <a:moveTo>
                    <a:pt x="1349525" y="155341"/>
                  </a:moveTo>
                  <a:lnTo>
                    <a:pt x="1238947" y="31728"/>
                  </a:lnTo>
                  <a:cubicBezTo>
                    <a:pt x="1220887" y="11539"/>
                    <a:pt x="1195081" y="0"/>
                    <a:pt x="1167992" y="0"/>
                  </a:cubicBezTo>
                  <a:lnTo>
                    <a:pt x="205781" y="10"/>
                  </a:lnTo>
                  <a:cubicBezTo>
                    <a:pt x="178693" y="10"/>
                    <a:pt x="152888" y="11550"/>
                    <a:pt x="134828" y="31739"/>
                  </a:cubicBezTo>
                  <a:lnTo>
                    <a:pt x="24247" y="155355"/>
                  </a:lnTo>
                  <a:cubicBezTo>
                    <a:pt x="8634" y="172808"/>
                    <a:pt x="1" y="195404"/>
                    <a:pt x="0" y="218821"/>
                  </a:cubicBezTo>
                  <a:lnTo>
                    <a:pt x="0" y="719111"/>
                  </a:lnTo>
                  <a:cubicBezTo>
                    <a:pt x="0" y="742530"/>
                    <a:pt x="8633" y="765128"/>
                    <a:pt x="24247" y="782583"/>
                  </a:cubicBezTo>
                  <a:lnTo>
                    <a:pt x="134824" y="906194"/>
                  </a:lnTo>
                  <a:cubicBezTo>
                    <a:pt x="152885" y="926384"/>
                    <a:pt x="178690" y="937923"/>
                    <a:pt x="205778" y="937923"/>
                  </a:cubicBezTo>
                  <a:lnTo>
                    <a:pt x="1167990" y="937914"/>
                  </a:lnTo>
                  <a:cubicBezTo>
                    <a:pt x="1195078" y="937914"/>
                    <a:pt x="1220883" y="926375"/>
                    <a:pt x="1238942" y="906186"/>
                  </a:cubicBezTo>
                  <a:lnTo>
                    <a:pt x="1349524" y="782570"/>
                  </a:lnTo>
                  <a:cubicBezTo>
                    <a:pt x="1365138" y="765116"/>
                    <a:pt x="1373771" y="742518"/>
                    <a:pt x="1373770" y="719098"/>
                  </a:cubicBezTo>
                  <a:lnTo>
                    <a:pt x="1373770" y="218812"/>
                  </a:lnTo>
                  <a:cubicBezTo>
                    <a:pt x="1373771" y="195393"/>
                    <a:pt x="1365139" y="172796"/>
                    <a:pt x="1349525" y="155341"/>
                  </a:cubicBezTo>
                  <a:close/>
                </a:path>
              </a:pathLst>
            </a:custGeom>
            <a:blipFill>
              <a:blip r:embed="rId4"/>
              <a:stretch>
                <a:fillRect l="-1333" r="-1333"/>
              </a:stretch>
            </a:blipFill>
          </p:spPr>
          <p:txBody>
            <a:bodyPr/>
            <a:lstStyle/>
            <a:p>
              <a:endParaRPr lang="en-US"/>
            </a:p>
          </p:txBody>
        </p:sp>
      </p:grpSp>
      <p:sp>
        <p:nvSpPr>
          <p:cNvPr id="21" name="TextBox 21"/>
          <p:cNvSpPr txBox="1"/>
          <p:nvPr/>
        </p:nvSpPr>
        <p:spPr>
          <a:xfrm>
            <a:off x="473326" y="1357169"/>
            <a:ext cx="11313283" cy="1677722"/>
          </a:xfrm>
          <a:prstGeom prst="rect">
            <a:avLst/>
          </a:prstGeom>
        </p:spPr>
        <p:txBody>
          <a:bodyPr lIns="0" tIns="0" rIns="0" bIns="0" rtlCol="0" anchor="t">
            <a:spAutoFit/>
          </a:bodyPr>
          <a:lstStyle/>
          <a:p>
            <a:pPr algn="l">
              <a:lnSpc>
                <a:spcPts val="12939"/>
              </a:lnSpc>
            </a:pPr>
            <a:r>
              <a:rPr lang="en-US" sz="11763">
                <a:solidFill>
                  <a:srgbClr val="FFFFFF"/>
                </a:solidFill>
                <a:latin typeface="HK Modular"/>
                <a:ea typeface="HK Modular"/>
                <a:cs typeface="HK Modular"/>
                <a:sym typeface="HK Modular"/>
              </a:rPr>
              <a:t>UI</a:t>
            </a:r>
          </a:p>
        </p:txBody>
      </p:sp>
      <p:sp>
        <p:nvSpPr>
          <p:cNvPr id="22" name="TextBox 22"/>
          <p:cNvSpPr txBox="1"/>
          <p:nvPr/>
        </p:nvSpPr>
        <p:spPr>
          <a:xfrm>
            <a:off x="1835295" y="2957231"/>
            <a:ext cx="11313283" cy="1677722"/>
          </a:xfrm>
          <a:prstGeom prst="rect">
            <a:avLst/>
          </a:prstGeom>
        </p:spPr>
        <p:txBody>
          <a:bodyPr lIns="0" tIns="0" rIns="0" bIns="0" rtlCol="0" anchor="t">
            <a:spAutoFit/>
          </a:bodyPr>
          <a:lstStyle/>
          <a:p>
            <a:pPr algn="l">
              <a:lnSpc>
                <a:spcPts val="12939"/>
              </a:lnSpc>
            </a:pPr>
            <a:r>
              <a:rPr lang="en-US" sz="11763">
                <a:solidFill>
                  <a:srgbClr val="3FFFE8"/>
                </a:solidFill>
                <a:latin typeface="HK Modular"/>
                <a:ea typeface="HK Modular"/>
                <a:cs typeface="HK Modular"/>
                <a:sym typeface="HK Modular"/>
              </a:rPr>
              <a:t>デモ</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85216" y="-1028700"/>
            <a:ext cx="19488179" cy="11912150"/>
          </a:xfrm>
          <a:custGeom>
            <a:avLst/>
            <a:gdLst/>
            <a:ahLst/>
            <a:cxnLst/>
            <a:rect l="l" t="t" r="r" b="b"/>
            <a:pathLst>
              <a:path w="19488179" h="11912150">
                <a:moveTo>
                  <a:pt x="0" y="0"/>
                </a:moveTo>
                <a:lnTo>
                  <a:pt x="19488180" y="0"/>
                </a:lnTo>
                <a:lnTo>
                  <a:pt x="19488180" y="11912150"/>
                </a:lnTo>
                <a:lnTo>
                  <a:pt x="0" y="119121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lIns="91440" tIns="45720" rIns="91440" bIns="45720" anchor="t"/>
          <a:lstStyle/>
          <a:p>
            <a:r>
              <a:rPr lang="en-US">
                <a:ea typeface="Calibri"/>
                <a:cs typeface="Calibri"/>
              </a:rPr>
              <a:t>0</a:t>
            </a:r>
            <a:endParaRPr lang="en-US"/>
          </a:p>
        </p:txBody>
      </p:sp>
      <p:sp>
        <p:nvSpPr>
          <p:cNvPr id="3" name="TextBox 3"/>
          <p:cNvSpPr txBox="1"/>
          <p:nvPr/>
        </p:nvSpPr>
        <p:spPr>
          <a:xfrm>
            <a:off x="-717148" y="2373655"/>
            <a:ext cx="17400595" cy="2172968"/>
          </a:xfrm>
          <a:prstGeom prst="rect">
            <a:avLst/>
          </a:prstGeom>
        </p:spPr>
        <p:txBody>
          <a:bodyPr lIns="0" tIns="0" rIns="0" bIns="0" rtlCol="0" anchor="t">
            <a:spAutoFit/>
          </a:bodyPr>
          <a:lstStyle/>
          <a:p>
            <a:pPr algn="ctr">
              <a:lnSpc>
                <a:spcPts val="8546"/>
              </a:lnSpc>
              <a:spcBef>
                <a:spcPct val="0"/>
              </a:spcBef>
            </a:pPr>
            <a:r>
              <a:rPr lang="en-US" sz="8062" b="1" dirty="0" err="1">
                <a:solidFill>
                  <a:srgbClr val="000000"/>
                </a:solidFill>
                <a:latin typeface="Proxima Nova Bold"/>
                <a:ea typeface="Proxima Nova Bold"/>
                <a:cs typeface="Proxima Nova Bold"/>
                <a:sym typeface="Proxima Nova Bold"/>
              </a:rPr>
              <a:t>RCカーを用いた走行データ取得と</a:t>
            </a:r>
            <a:endParaRPr lang="en-US" sz="8062" b="1" dirty="0">
              <a:solidFill>
                <a:srgbClr val="000000"/>
              </a:solidFill>
              <a:latin typeface="Proxima Nova Bold"/>
              <a:ea typeface="Proxima Nova Bold"/>
              <a:cs typeface="Proxima Nova Bold"/>
              <a:sym typeface="Proxima Nova Bold"/>
            </a:endParaRPr>
          </a:p>
          <a:p>
            <a:pPr algn="ctr">
              <a:lnSpc>
                <a:spcPts val="8546"/>
              </a:lnSpc>
              <a:spcBef>
                <a:spcPct val="0"/>
              </a:spcBef>
            </a:pPr>
            <a:endParaRPr lang="en-US" sz="8062" b="1" dirty="0">
              <a:solidFill>
                <a:srgbClr val="000000"/>
              </a:solidFill>
              <a:latin typeface="Proxima Nova Bold"/>
              <a:ea typeface="Proxima Nova Bold"/>
              <a:cs typeface="Proxima Nova Bold"/>
              <a:sym typeface="Proxima Nova Bold"/>
            </a:endParaRPr>
          </a:p>
        </p:txBody>
      </p:sp>
      <p:sp>
        <p:nvSpPr>
          <p:cNvPr id="4" name="TextBox 4"/>
          <p:cNvSpPr txBox="1"/>
          <p:nvPr/>
        </p:nvSpPr>
        <p:spPr>
          <a:xfrm>
            <a:off x="914400" y="5227459"/>
            <a:ext cx="16992600" cy="1115568"/>
          </a:xfrm>
          <a:prstGeom prst="rect">
            <a:avLst/>
          </a:prstGeom>
        </p:spPr>
        <p:txBody>
          <a:bodyPr wrap="square" lIns="0" tIns="0" rIns="0" bIns="0" rtlCol="0" anchor="t">
            <a:spAutoFit/>
          </a:bodyPr>
          <a:lstStyle/>
          <a:p>
            <a:pPr algn="ctr">
              <a:lnSpc>
                <a:spcPts val="8586"/>
              </a:lnSpc>
              <a:spcBef>
                <a:spcPct val="0"/>
              </a:spcBef>
            </a:pPr>
            <a:r>
              <a:rPr lang="en-US" sz="8100" b="1" dirty="0" err="1">
                <a:solidFill>
                  <a:srgbClr val="000000"/>
                </a:solidFill>
                <a:latin typeface="Proxima Nova Bold"/>
                <a:ea typeface="Proxima Nova Bold"/>
                <a:cs typeface="Proxima Nova Bold"/>
                <a:sym typeface="Proxima Nova Bold"/>
              </a:rPr>
              <a:t>iPadによるリアルタイム表示デモ</a:t>
            </a:r>
            <a:endParaRPr lang="en-US" sz="8100" b="1" dirty="0">
              <a:solidFill>
                <a:srgbClr val="000000"/>
              </a:solidFill>
              <a:latin typeface="Proxima Nova Bold"/>
              <a:ea typeface="Proxima Nova Bold"/>
              <a:cs typeface="Proxima Nova Bold"/>
              <a:sym typeface="Proxima Nova Bold"/>
            </a:endParaRPr>
          </a:p>
        </p:txBody>
      </p:sp>
      <p:sp>
        <p:nvSpPr>
          <p:cNvPr id="5" name="TextBox 5"/>
          <p:cNvSpPr txBox="1"/>
          <p:nvPr/>
        </p:nvSpPr>
        <p:spPr>
          <a:xfrm>
            <a:off x="7596965" y="9181813"/>
            <a:ext cx="11482253" cy="1113790"/>
          </a:xfrm>
          <a:prstGeom prst="rect">
            <a:avLst/>
          </a:prstGeom>
        </p:spPr>
        <p:txBody>
          <a:bodyPr wrap="square" lIns="0" tIns="0" rIns="0" bIns="0" rtlCol="0" anchor="t">
            <a:spAutoFit/>
          </a:bodyPr>
          <a:lstStyle/>
          <a:p>
            <a:pPr algn="ctr">
              <a:lnSpc>
                <a:spcPts val="8480"/>
              </a:lnSpc>
              <a:spcBef>
                <a:spcPct val="0"/>
              </a:spcBef>
            </a:pPr>
            <a:r>
              <a:rPr lang="en-US" sz="8000" b="1" dirty="0">
                <a:solidFill>
                  <a:srgbClr val="000000"/>
                </a:solidFill>
                <a:latin typeface="Proxima Nova Bold"/>
                <a:ea typeface="Proxima Nova Bold"/>
                <a:cs typeface="Proxima Nova Bold"/>
                <a:sym typeface="Proxima Nova Bold"/>
              </a:rPr>
              <a:t>U-22展示・発表デモ</a:t>
            </a:r>
          </a:p>
        </p:txBody>
      </p:sp>
      <p:sp>
        <p:nvSpPr>
          <p:cNvPr id="6" name="TextBox 6"/>
          <p:cNvSpPr txBox="1"/>
          <p:nvPr/>
        </p:nvSpPr>
        <p:spPr>
          <a:xfrm>
            <a:off x="-985216" y="408778"/>
            <a:ext cx="12362458" cy="980735"/>
          </a:xfrm>
          <a:prstGeom prst="rect">
            <a:avLst/>
          </a:prstGeom>
        </p:spPr>
        <p:txBody>
          <a:bodyPr lIns="0" tIns="0" rIns="0" bIns="0" rtlCol="0" anchor="t">
            <a:spAutoFit/>
          </a:bodyPr>
          <a:lstStyle/>
          <a:p>
            <a:pPr algn="ctr">
              <a:lnSpc>
                <a:spcPts val="7361"/>
              </a:lnSpc>
              <a:spcBef>
                <a:spcPct val="0"/>
              </a:spcBef>
            </a:pPr>
            <a:r>
              <a:rPr lang="en-US" sz="6945">
                <a:gradFill>
                  <a:gsLst>
                    <a:gs pos="0">
                      <a:srgbClr val="000000">
                        <a:alpha val="100000"/>
                      </a:srgbClr>
                    </a:gs>
                    <a:gs pos="100000">
                      <a:srgbClr val="3533CD">
                        <a:alpha val="100000"/>
                      </a:srgbClr>
                    </a:gs>
                  </a:gsLst>
                  <a:lin ang="0"/>
                </a:gradFill>
                <a:latin typeface="チェックポイント"/>
                <a:ea typeface="チェックポイント"/>
                <a:cs typeface="チェックポイント"/>
                <a:sym typeface="チェックポイント"/>
              </a:rPr>
              <a:t>V2V車両間通信システム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c95f45b-69da-4799-96c3-06a51b1961d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3E2097606587A4890269A4E33C60FEE" ma:contentTypeVersion="9" ma:contentTypeDescription="新しいドキュメントを作成します。" ma:contentTypeScope="" ma:versionID="362ff8fc38ba27e272b2b8857a3a8c3e">
  <xsd:schema xmlns:xsd="http://www.w3.org/2001/XMLSchema" xmlns:xs="http://www.w3.org/2001/XMLSchema" xmlns:p="http://schemas.microsoft.com/office/2006/metadata/properties" xmlns:ns2="bc95f45b-69da-4799-96c3-06a51b1961d1" targetNamespace="http://schemas.microsoft.com/office/2006/metadata/properties" ma:root="true" ma:fieldsID="56d9e8e93c54b44c7dd0dbace3583071" ns2:_="">
    <xsd:import namespace="bc95f45b-69da-4799-96c3-06a51b1961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95f45b-69da-4799-96c3-06a51b1961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86adb34-9094-409a-90b9-a7c5bc646ef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E0777A-7005-4570-89C0-214575D60992}">
  <ds:schemaRefs>
    <ds:schemaRef ds:uri="http://schemas.microsoft.com/sharepoint/v3/contenttype/forms"/>
  </ds:schemaRefs>
</ds:datastoreItem>
</file>

<file path=customXml/itemProps2.xml><?xml version="1.0" encoding="utf-8"?>
<ds:datastoreItem xmlns:ds="http://schemas.openxmlformats.org/officeDocument/2006/customXml" ds:itemID="{E33F0FB7-D064-4463-9943-24DE0A50DAB9}">
  <ds:schemaRefs>
    <ds:schemaRef ds:uri="http://schemas.microsoft.com/office/2006/metadata/properties"/>
    <ds:schemaRef ds:uri="http://schemas.microsoft.com/office/infopath/2007/PartnerControls"/>
    <ds:schemaRef ds:uri="bc95f45b-69da-4799-96c3-06a51b1961d1"/>
  </ds:schemaRefs>
</ds:datastoreItem>
</file>

<file path=customXml/itemProps3.xml><?xml version="1.0" encoding="utf-8"?>
<ds:datastoreItem xmlns:ds="http://schemas.openxmlformats.org/officeDocument/2006/customXml" ds:itemID="{935FB337-8F5B-4F78-A1B8-641F30E750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95f45b-69da-4799-96c3-06a51b1961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TotalTime>
  <Words>163</Words>
  <Application>Microsoft Office PowerPoint</Application>
  <PresentationFormat>Custom</PresentationFormat>
  <Paragraphs>47</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c:title>
  <cp:lastModifiedBy>MANH DUONG</cp:lastModifiedBy>
  <cp:revision>17</cp:revision>
  <dcterms:created xsi:type="dcterms:W3CDTF">2006-08-16T00:00:00Z</dcterms:created>
  <dcterms:modified xsi:type="dcterms:W3CDTF">2026-05-21T01:24:44Z</dcterms:modified>
  <dc:identifier>DAHIHc_IuOg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0x010100A3E2097606587A4890269A4E33C60FEE</vt:lpwstr>
  </property>
  <property fmtid="{D5CDD505-2E9C-101B-9397-08002B2CF9AE}" pid="3" name="MediaServiceImageTags">
    <vt:lpwstr/>
  </property>
</Properties>
</file>